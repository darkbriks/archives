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5" r:id="rId6"/>
    <p:sldId id="266" r:id="rId7"/>
    <p:sldId id="268" r:id="rId8"/>
    <p:sldId id="269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FAE31B-5CCD-46B3-BE11-0455BFB6133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B0BAF5-B076-4C0A-B864-295BDB43B3F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Fonctionnement</a:t>
          </a:r>
          <a:endParaRPr lang="en-US" dirty="0"/>
        </a:p>
      </dgm:t>
    </dgm:pt>
    <dgm:pt modelId="{40982F89-3A16-4301-87F3-A3718B6E46CD}" type="parTrans" cxnId="{872D4956-BB00-45CE-8F6A-2619D593FD69}">
      <dgm:prSet/>
      <dgm:spPr/>
      <dgm:t>
        <a:bodyPr/>
        <a:lstStyle/>
        <a:p>
          <a:endParaRPr lang="en-US"/>
        </a:p>
      </dgm:t>
    </dgm:pt>
    <dgm:pt modelId="{0C75B5CE-FF9C-4CFF-B14C-021FBB475ED2}" type="sibTrans" cxnId="{872D4956-BB00-45CE-8F6A-2619D593FD69}">
      <dgm:prSet/>
      <dgm:spPr/>
      <dgm:t>
        <a:bodyPr/>
        <a:lstStyle/>
        <a:p>
          <a:endParaRPr lang="en-US"/>
        </a:p>
      </dgm:t>
    </dgm:pt>
    <dgm:pt modelId="{EF5BBCC0-510C-43FA-AFE4-EA381040EDD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Rendement</a:t>
          </a:r>
          <a:endParaRPr lang="en-US"/>
        </a:p>
      </dgm:t>
    </dgm:pt>
    <dgm:pt modelId="{4345DF32-E042-4651-8A77-6661E06872CD}" type="parTrans" cxnId="{896B8415-35A7-457A-82A7-94C1260B6DFC}">
      <dgm:prSet/>
      <dgm:spPr/>
      <dgm:t>
        <a:bodyPr/>
        <a:lstStyle/>
        <a:p>
          <a:endParaRPr lang="en-US"/>
        </a:p>
      </dgm:t>
    </dgm:pt>
    <dgm:pt modelId="{F4B601CA-58FD-498C-85F5-F3F0EB080CE3}" type="sibTrans" cxnId="{896B8415-35A7-457A-82A7-94C1260B6DFC}">
      <dgm:prSet/>
      <dgm:spPr/>
      <dgm:t>
        <a:bodyPr/>
        <a:lstStyle/>
        <a:p>
          <a:endParaRPr lang="en-US"/>
        </a:p>
      </dgm:t>
    </dgm:pt>
    <dgm:pt modelId="{9707C3AF-A3CE-4E7E-95F3-B50A5690CE40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Impact écologique</a:t>
          </a:r>
          <a:endParaRPr lang="en-US" dirty="0"/>
        </a:p>
      </dgm:t>
    </dgm:pt>
    <dgm:pt modelId="{71BF4483-0FD6-4F73-9ED9-B3EAEC99E1BC}" type="parTrans" cxnId="{45114C07-364E-4A62-99E9-0FF12E135152}">
      <dgm:prSet/>
      <dgm:spPr/>
      <dgm:t>
        <a:bodyPr/>
        <a:lstStyle/>
        <a:p>
          <a:endParaRPr lang="en-US"/>
        </a:p>
      </dgm:t>
    </dgm:pt>
    <dgm:pt modelId="{C56CF930-7564-4CC7-93AF-B791DF9BFF9A}" type="sibTrans" cxnId="{45114C07-364E-4A62-99E9-0FF12E135152}">
      <dgm:prSet/>
      <dgm:spPr/>
      <dgm:t>
        <a:bodyPr/>
        <a:lstStyle/>
        <a:p>
          <a:endParaRPr lang="en-US"/>
        </a:p>
      </dgm:t>
    </dgm:pt>
    <dgm:pt modelId="{46E8C1F4-353B-4D19-A6B6-39130971C6F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Allemagne et Solaire</a:t>
          </a:r>
          <a:endParaRPr lang="en-US"/>
        </a:p>
      </dgm:t>
    </dgm:pt>
    <dgm:pt modelId="{912ABB63-3899-4001-8A16-E663B6FF84DC}" type="parTrans" cxnId="{BEC67998-D49D-42B7-9B13-59E4B32D9505}">
      <dgm:prSet/>
      <dgm:spPr/>
      <dgm:t>
        <a:bodyPr/>
        <a:lstStyle/>
        <a:p>
          <a:endParaRPr lang="en-US"/>
        </a:p>
      </dgm:t>
    </dgm:pt>
    <dgm:pt modelId="{E47146B9-DF61-4902-B51D-43602A55AAF4}" type="sibTrans" cxnId="{BEC67998-D49D-42B7-9B13-59E4B32D9505}">
      <dgm:prSet/>
      <dgm:spPr/>
      <dgm:t>
        <a:bodyPr/>
        <a:lstStyle/>
        <a:p>
          <a:endParaRPr lang="en-US"/>
        </a:p>
      </dgm:t>
    </dgm:pt>
    <dgm:pt modelId="{9B3EF979-C908-4279-9F34-861FE16B6A3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Améliorations futures</a:t>
          </a:r>
          <a:endParaRPr lang="en-US"/>
        </a:p>
      </dgm:t>
    </dgm:pt>
    <dgm:pt modelId="{ED3BD819-41E2-4AEC-902A-E89AAEF3352F}" type="parTrans" cxnId="{50D216D1-3304-494C-8B70-F5BE5543F972}">
      <dgm:prSet/>
      <dgm:spPr/>
      <dgm:t>
        <a:bodyPr/>
        <a:lstStyle/>
        <a:p>
          <a:endParaRPr lang="en-US"/>
        </a:p>
      </dgm:t>
    </dgm:pt>
    <dgm:pt modelId="{AEE14DAD-767D-47AD-9515-E6C7F36377FB}" type="sibTrans" cxnId="{50D216D1-3304-494C-8B70-F5BE5543F972}">
      <dgm:prSet/>
      <dgm:spPr/>
      <dgm:t>
        <a:bodyPr/>
        <a:lstStyle/>
        <a:p>
          <a:endParaRPr lang="en-US"/>
        </a:p>
      </dgm:t>
    </dgm:pt>
    <dgm:pt modelId="{15886331-AB83-4AB0-B811-F8E67D9E6DB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Ouverture</a:t>
          </a:r>
          <a:endParaRPr lang="en-US" dirty="0"/>
        </a:p>
      </dgm:t>
    </dgm:pt>
    <dgm:pt modelId="{8C9AE3AD-9505-49C8-8BF8-DB7FA25C0DC8}" type="parTrans" cxnId="{C6FC5C09-6CEA-4A2C-8325-7C3DF26B87DA}">
      <dgm:prSet/>
      <dgm:spPr/>
      <dgm:t>
        <a:bodyPr/>
        <a:lstStyle/>
        <a:p>
          <a:endParaRPr lang="en-US"/>
        </a:p>
      </dgm:t>
    </dgm:pt>
    <dgm:pt modelId="{FCEFA3CB-0DC4-466A-89F2-FE66D3A987AA}" type="sibTrans" cxnId="{C6FC5C09-6CEA-4A2C-8325-7C3DF26B87DA}">
      <dgm:prSet/>
      <dgm:spPr/>
      <dgm:t>
        <a:bodyPr/>
        <a:lstStyle/>
        <a:p>
          <a:endParaRPr lang="en-US"/>
        </a:p>
      </dgm:t>
    </dgm:pt>
    <dgm:pt modelId="{DA27319E-DAC6-483B-A92F-0388493B10AB}" type="pres">
      <dgm:prSet presAssocID="{4BFAE31B-5CCD-46B3-BE11-0455BFB61332}" presName="root" presStyleCnt="0">
        <dgm:presLayoutVars>
          <dgm:dir/>
          <dgm:resizeHandles val="exact"/>
        </dgm:presLayoutVars>
      </dgm:prSet>
      <dgm:spPr/>
    </dgm:pt>
    <dgm:pt modelId="{5D4A683B-CEEC-4BB2-AE3B-A29ACD9D05F9}" type="pres">
      <dgm:prSet presAssocID="{DDB0BAF5-B076-4C0A-B864-295BDB43B3F2}" presName="compNode" presStyleCnt="0"/>
      <dgm:spPr/>
    </dgm:pt>
    <dgm:pt modelId="{B861DFC1-A93A-4B9E-9E49-D0D3D8EABFC1}" type="pres">
      <dgm:prSet presAssocID="{DDB0BAF5-B076-4C0A-B864-295BDB43B3F2}" presName="bgRect" presStyleLbl="bgShp" presStyleIdx="0" presStyleCnt="6"/>
      <dgm:spPr/>
    </dgm:pt>
    <dgm:pt modelId="{5111276C-519A-4638-AB94-D7B571911E4A}" type="pres">
      <dgm:prSet presAssocID="{DDB0BAF5-B076-4C0A-B864-295BDB43B3F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F2ECE24F-343A-42A6-876E-D63AE4C1AC50}" type="pres">
      <dgm:prSet presAssocID="{DDB0BAF5-B076-4C0A-B864-295BDB43B3F2}" presName="spaceRect" presStyleCnt="0"/>
      <dgm:spPr/>
    </dgm:pt>
    <dgm:pt modelId="{F95B06E1-AF3E-4B03-B67E-4C3DDB6F940D}" type="pres">
      <dgm:prSet presAssocID="{DDB0BAF5-B076-4C0A-B864-295BDB43B3F2}" presName="parTx" presStyleLbl="revTx" presStyleIdx="0" presStyleCnt="6">
        <dgm:presLayoutVars>
          <dgm:chMax val="0"/>
          <dgm:chPref val="0"/>
        </dgm:presLayoutVars>
      </dgm:prSet>
      <dgm:spPr/>
    </dgm:pt>
    <dgm:pt modelId="{0476EA45-298C-4150-BD04-BA399EAA39C5}" type="pres">
      <dgm:prSet presAssocID="{0C75B5CE-FF9C-4CFF-B14C-021FBB475ED2}" presName="sibTrans" presStyleCnt="0"/>
      <dgm:spPr/>
    </dgm:pt>
    <dgm:pt modelId="{3BB3AF60-C92B-4C27-BE0D-BA1741E3E0B8}" type="pres">
      <dgm:prSet presAssocID="{EF5BBCC0-510C-43FA-AFE4-EA381040EDD0}" presName="compNode" presStyleCnt="0"/>
      <dgm:spPr/>
    </dgm:pt>
    <dgm:pt modelId="{C8D71B9D-74AB-4BF6-9593-E0E52C81B37A}" type="pres">
      <dgm:prSet presAssocID="{EF5BBCC0-510C-43FA-AFE4-EA381040EDD0}" presName="bgRect" presStyleLbl="bgShp" presStyleIdx="1" presStyleCnt="6"/>
      <dgm:spPr/>
    </dgm:pt>
    <dgm:pt modelId="{5D758B6B-7991-4B0E-AA6B-86621A0FE014}" type="pres">
      <dgm:prSet presAssocID="{EF5BBCC0-510C-43FA-AFE4-EA381040EDD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uge"/>
        </a:ext>
      </dgm:extLst>
    </dgm:pt>
    <dgm:pt modelId="{95E77816-AA67-434D-AF56-9857491CFF43}" type="pres">
      <dgm:prSet presAssocID="{EF5BBCC0-510C-43FA-AFE4-EA381040EDD0}" presName="spaceRect" presStyleCnt="0"/>
      <dgm:spPr/>
    </dgm:pt>
    <dgm:pt modelId="{FE852239-B302-4B61-B9E7-296A2F7A430B}" type="pres">
      <dgm:prSet presAssocID="{EF5BBCC0-510C-43FA-AFE4-EA381040EDD0}" presName="parTx" presStyleLbl="revTx" presStyleIdx="1" presStyleCnt="6">
        <dgm:presLayoutVars>
          <dgm:chMax val="0"/>
          <dgm:chPref val="0"/>
        </dgm:presLayoutVars>
      </dgm:prSet>
      <dgm:spPr/>
    </dgm:pt>
    <dgm:pt modelId="{82B0C482-1AF0-4C4A-A242-1E42FD978121}" type="pres">
      <dgm:prSet presAssocID="{F4B601CA-58FD-498C-85F5-F3F0EB080CE3}" presName="sibTrans" presStyleCnt="0"/>
      <dgm:spPr/>
    </dgm:pt>
    <dgm:pt modelId="{93C3A44C-AAB8-44F6-902D-A4C19190688E}" type="pres">
      <dgm:prSet presAssocID="{9707C3AF-A3CE-4E7E-95F3-B50A5690CE40}" presName="compNode" presStyleCnt="0"/>
      <dgm:spPr/>
    </dgm:pt>
    <dgm:pt modelId="{D4720AFB-D51F-4D28-A682-FCABF0344CFD}" type="pres">
      <dgm:prSet presAssocID="{9707C3AF-A3CE-4E7E-95F3-B50A5690CE40}" presName="bgRect" presStyleLbl="bgShp" presStyleIdx="2" presStyleCnt="6"/>
      <dgm:spPr/>
    </dgm:pt>
    <dgm:pt modelId="{BFFB6756-7FF0-48AC-B602-04B1BC6CE9C1}" type="pres">
      <dgm:prSet presAssocID="{9707C3AF-A3CE-4E7E-95F3-B50A5690CE4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D27DA8D-2117-459B-B9D2-B3A0E32BD783}" type="pres">
      <dgm:prSet presAssocID="{9707C3AF-A3CE-4E7E-95F3-B50A5690CE40}" presName="spaceRect" presStyleCnt="0"/>
      <dgm:spPr/>
    </dgm:pt>
    <dgm:pt modelId="{D8B151F5-1C90-4625-8632-8FB03FDFFED9}" type="pres">
      <dgm:prSet presAssocID="{9707C3AF-A3CE-4E7E-95F3-B50A5690CE40}" presName="parTx" presStyleLbl="revTx" presStyleIdx="2" presStyleCnt="6">
        <dgm:presLayoutVars>
          <dgm:chMax val="0"/>
          <dgm:chPref val="0"/>
        </dgm:presLayoutVars>
      </dgm:prSet>
      <dgm:spPr/>
    </dgm:pt>
    <dgm:pt modelId="{7C94F418-D40D-49C7-A76F-A8D2247CE851}" type="pres">
      <dgm:prSet presAssocID="{C56CF930-7564-4CC7-93AF-B791DF9BFF9A}" presName="sibTrans" presStyleCnt="0"/>
      <dgm:spPr/>
    </dgm:pt>
    <dgm:pt modelId="{D4428CF8-FF7D-4C7B-AA4D-A2F493D65138}" type="pres">
      <dgm:prSet presAssocID="{46E8C1F4-353B-4D19-A6B6-39130971C6FA}" presName="compNode" presStyleCnt="0"/>
      <dgm:spPr/>
    </dgm:pt>
    <dgm:pt modelId="{53E82A1C-2E61-42CE-9ECC-517CC67BF558}" type="pres">
      <dgm:prSet presAssocID="{46E8C1F4-353B-4D19-A6B6-39130971C6FA}" presName="bgRect" presStyleLbl="bgShp" presStyleIdx="3" presStyleCnt="6"/>
      <dgm:spPr/>
    </dgm:pt>
    <dgm:pt modelId="{A48E4C98-0979-4444-B7E4-CCD4B35AE673}" type="pres">
      <dgm:prSet presAssocID="{46E8C1F4-353B-4D19-A6B6-39130971C6F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eil"/>
        </a:ext>
      </dgm:extLst>
    </dgm:pt>
    <dgm:pt modelId="{DDA74983-40C3-4ACE-9ECB-A356E8974046}" type="pres">
      <dgm:prSet presAssocID="{46E8C1F4-353B-4D19-A6B6-39130971C6FA}" presName="spaceRect" presStyleCnt="0"/>
      <dgm:spPr/>
    </dgm:pt>
    <dgm:pt modelId="{7E7FCA25-0015-446F-A55C-5CA5DC686D5F}" type="pres">
      <dgm:prSet presAssocID="{46E8C1F4-353B-4D19-A6B6-39130971C6FA}" presName="parTx" presStyleLbl="revTx" presStyleIdx="3" presStyleCnt="6">
        <dgm:presLayoutVars>
          <dgm:chMax val="0"/>
          <dgm:chPref val="0"/>
        </dgm:presLayoutVars>
      </dgm:prSet>
      <dgm:spPr/>
    </dgm:pt>
    <dgm:pt modelId="{928748D9-1AAB-4D4A-96E1-09606AFBF883}" type="pres">
      <dgm:prSet presAssocID="{E47146B9-DF61-4902-B51D-43602A55AAF4}" presName="sibTrans" presStyleCnt="0"/>
      <dgm:spPr/>
    </dgm:pt>
    <dgm:pt modelId="{98C1C191-56D5-47F0-B0D9-AC61D3FFA7BD}" type="pres">
      <dgm:prSet presAssocID="{9B3EF979-C908-4279-9F34-861FE16B6A34}" presName="compNode" presStyleCnt="0"/>
      <dgm:spPr/>
    </dgm:pt>
    <dgm:pt modelId="{E59AE76D-91ED-4732-8006-6A04706B4EB5}" type="pres">
      <dgm:prSet presAssocID="{9B3EF979-C908-4279-9F34-861FE16B6A34}" presName="bgRect" presStyleLbl="bgShp" presStyleIdx="4" presStyleCnt="6"/>
      <dgm:spPr/>
    </dgm:pt>
    <dgm:pt modelId="{B441E955-E19D-4FAA-B4D6-5662E9F5848E}" type="pres">
      <dgm:prSet presAssocID="{9B3EF979-C908-4279-9F34-861FE16B6A3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C1A36D-C529-46B3-BE29-271210C23576}" type="pres">
      <dgm:prSet presAssocID="{9B3EF979-C908-4279-9F34-861FE16B6A34}" presName="spaceRect" presStyleCnt="0"/>
      <dgm:spPr/>
    </dgm:pt>
    <dgm:pt modelId="{B35250FD-676B-4AAB-B1FC-5B1783765C0A}" type="pres">
      <dgm:prSet presAssocID="{9B3EF979-C908-4279-9F34-861FE16B6A34}" presName="parTx" presStyleLbl="revTx" presStyleIdx="4" presStyleCnt="6">
        <dgm:presLayoutVars>
          <dgm:chMax val="0"/>
          <dgm:chPref val="0"/>
        </dgm:presLayoutVars>
      </dgm:prSet>
      <dgm:spPr/>
    </dgm:pt>
    <dgm:pt modelId="{902A693A-7F08-414F-A73E-8E4F6D7BA2CE}" type="pres">
      <dgm:prSet presAssocID="{AEE14DAD-767D-47AD-9515-E6C7F36377FB}" presName="sibTrans" presStyleCnt="0"/>
      <dgm:spPr/>
    </dgm:pt>
    <dgm:pt modelId="{BF21B633-70FB-46C9-A1E8-0016D3968D2D}" type="pres">
      <dgm:prSet presAssocID="{15886331-AB83-4AB0-B811-F8E67D9E6DB6}" presName="compNode" presStyleCnt="0"/>
      <dgm:spPr/>
    </dgm:pt>
    <dgm:pt modelId="{1117416D-D925-42FF-B66A-9935E3BAB24A}" type="pres">
      <dgm:prSet presAssocID="{15886331-AB83-4AB0-B811-F8E67D9E6DB6}" presName="bgRect" presStyleLbl="bgShp" presStyleIdx="5" presStyleCnt="6"/>
      <dgm:spPr/>
    </dgm:pt>
    <dgm:pt modelId="{395FA3DF-8E21-4E7F-80B1-DA203BA433A4}" type="pres">
      <dgm:prSet presAssocID="{15886331-AB83-4AB0-B811-F8E67D9E6DB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obe avec un remplissage uni"/>
        </a:ext>
      </dgm:extLst>
    </dgm:pt>
    <dgm:pt modelId="{ABCB1350-C10B-4916-A1D3-032C3260DAC7}" type="pres">
      <dgm:prSet presAssocID="{15886331-AB83-4AB0-B811-F8E67D9E6DB6}" presName="spaceRect" presStyleCnt="0"/>
      <dgm:spPr/>
    </dgm:pt>
    <dgm:pt modelId="{2D5C1E7F-6E17-4289-9989-2F46C060BEDA}" type="pres">
      <dgm:prSet presAssocID="{15886331-AB83-4AB0-B811-F8E67D9E6DB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5114C07-364E-4A62-99E9-0FF12E135152}" srcId="{4BFAE31B-5CCD-46B3-BE11-0455BFB61332}" destId="{9707C3AF-A3CE-4E7E-95F3-B50A5690CE40}" srcOrd="2" destOrd="0" parTransId="{71BF4483-0FD6-4F73-9ED9-B3EAEC99E1BC}" sibTransId="{C56CF930-7564-4CC7-93AF-B791DF9BFF9A}"/>
    <dgm:cxn modelId="{C6FC5C09-6CEA-4A2C-8325-7C3DF26B87DA}" srcId="{4BFAE31B-5CCD-46B3-BE11-0455BFB61332}" destId="{15886331-AB83-4AB0-B811-F8E67D9E6DB6}" srcOrd="5" destOrd="0" parTransId="{8C9AE3AD-9505-49C8-8BF8-DB7FA25C0DC8}" sibTransId="{FCEFA3CB-0DC4-466A-89F2-FE66D3A987AA}"/>
    <dgm:cxn modelId="{896B8415-35A7-457A-82A7-94C1260B6DFC}" srcId="{4BFAE31B-5CCD-46B3-BE11-0455BFB61332}" destId="{EF5BBCC0-510C-43FA-AFE4-EA381040EDD0}" srcOrd="1" destOrd="0" parTransId="{4345DF32-E042-4651-8A77-6661E06872CD}" sibTransId="{F4B601CA-58FD-498C-85F5-F3F0EB080CE3}"/>
    <dgm:cxn modelId="{FCA36743-B320-4EC1-8801-85EEB0A6ED88}" type="presOf" srcId="{9707C3AF-A3CE-4E7E-95F3-B50A5690CE40}" destId="{D8B151F5-1C90-4625-8632-8FB03FDFFED9}" srcOrd="0" destOrd="0" presId="urn:microsoft.com/office/officeart/2018/2/layout/IconVerticalSolidList"/>
    <dgm:cxn modelId="{1B5B1F65-00A0-4738-B7B4-4972BE75C067}" type="presOf" srcId="{4BFAE31B-5CCD-46B3-BE11-0455BFB61332}" destId="{DA27319E-DAC6-483B-A92F-0388493B10AB}" srcOrd="0" destOrd="0" presId="urn:microsoft.com/office/officeart/2018/2/layout/IconVerticalSolidList"/>
    <dgm:cxn modelId="{A029F049-F0EC-4982-8CC3-8965AD6CC6C2}" type="presOf" srcId="{DDB0BAF5-B076-4C0A-B864-295BDB43B3F2}" destId="{F95B06E1-AF3E-4B03-B67E-4C3DDB6F940D}" srcOrd="0" destOrd="0" presId="urn:microsoft.com/office/officeart/2018/2/layout/IconVerticalSolidList"/>
    <dgm:cxn modelId="{872D4956-BB00-45CE-8F6A-2619D593FD69}" srcId="{4BFAE31B-5CCD-46B3-BE11-0455BFB61332}" destId="{DDB0BAF5-B076-4C0A-B864-295BDB43B3F2}" srcOrd="0" destOrd="0" parTransId="{40982F89-3A16-4301-87F3-A3718B6E46CD}" sibTransId="{0C75B5CE-FF9C-4CFF-B14C-021FBB475ED2}"/>
    <dgm:cxn modelId="{65B7DC8C-55E5-4A68-861B-BB864DC3A9FD}" type="presOf" srcId="{15886331-AB83-4AB0-B811-F8E67D9E6DB6}" destId="{2D5C1E7F-6E17-4289-9989-2F46C060BEDA}" srcOrd="0" destOrd="0" presId="urn:microsoft.com/office/officeart/2018/2/layout/IconVerticalSolidList"/>
    <dgm:cxn modelId="{BEC67998-D49D-42B7-9B13-59E4B32D9505}" srcId="{4BFAE31B-5CCD-46B3-BE11-0455BFB61332}" destId="{46E8C1F4-353B-4D19-A6B6-39130971C6FA}" srcOrd="3" destOrd="0" parTransId="{912ABB63-3899-4001-8A16-E663B6FF84DC}" sibTransId="{E47146B9-DF61-4902-B51D-43602A55AAF4}"/>
    <dgm:cxn modelId="{50D216D1-3304-494C-8B70-F5BE5543F972}" srcId="{4BFAE31B-5CCD-46B3-BE11-0455BFB61332}" destId="{9B3EF979-C908-4279-9F34-861FE16B6A34}" srcOrd="4" destOrd="0" parTransId="{ED3BD819-41E2-4AEC-902A-E89AAEF3352F}" sibTransId="{AEE14DAD-767D-47AD-9515-E6C7F36377FB}"/>
    <dgm:cxn modelId="{F9421BD3-8DA3-4819-8D6B-52804AC2F65F}" type="presOf" srcId="{46E8C1F4-353B-4D19-A6B6-39130971C6FA}" destId="{7E7FCA25-0015-446F-A55C-5CA5DC686D5F}" srcOrd="0" destOrd="0" presId="urn:microsoft.com/office/officeart/2018/2/layout/IconVerticalSolidList"/>
    <dgm:cxn modelId="{B7CC0DD7-9236-4BB3-941B-B299BFACE4BA}" type="presOf" srcId="{9B3EF979-C908-4279-9F34-861FE16B6A34}" destId="{B35250FD-676B-4AAB-B1FC-5B1783765C0A}" srcOrd="0" destOrd="0" presId="urn:microsoft.com/office/officeart/2018/2/layout/IconVerticalSolidList"/>
    <dgm:cxn modelId="{4FEFABF1-89B2-414C-8796-2BC3B11A3F1D}" type="presOf" srcId="{EF5BBCC0-510C-43FA-AFE4-EA381040EDD0}" destId="{FE852239-B302-4B61-B9E7-296A2F7A430B}" srcOrd="0" destOrd="0" presId="urn:microsoft.com/office/officeart/2018/2/layout/IconVerticalSolidList"/>
    <dgm:cxn modelId="{C9211819-E834-457C-9874-8F2845A938AD}" type="presParOf" srcId="{DA27319E-DAC6-483B-A92F-0388493B10AB}" destId="{5D4A683B-CEEC-4BB2-AE3B-A29ACD9D05F9}" srcOrd="0" destOrd="0" presId="urn:microsoft.com/office/officeart/2018/2/layout/IconVerticalSolidList"/>
    <dgm:cxn modelId="{D5F9B411-92AA-4665-9698-08733FFE45A5}" type="presParOf" srcId="{5D4A683B-CEEC-4BB2-AE3B-A29ACD9D05F9}" destId="{B861DFC1-A93A-4B9E-9E49-D0D3D8EABFC1}" srcOrd="0" destOrd="0" presId="urn:microsoft.com/office/officeart/2018/2/layout/IconVerticalSolidList"/>
    <dgm:cxn modelId="{3BCCFEE8-3817-4A6D-826C-F0FC44DAF503}" type="presParOf" srcId="{5D4A683B-CEEC-4BB2-AE3B-A29ACD9D05F9}" destId="{5111276C-519A-4638-AB94-D7B571911E4A}" srcOrd="1" destOrd="0" presId="urn:microsoft.com/office/officeart/2018/2/layout/IconVerticalSolidList"/>
    <dgm:cxn modelId="{5DB8323C-129F-49A6-80A5-0CFC99A0CE05}" type="presParOf" srcId="{5D4A683B-CEEC-4BB2-AE3B-A29ACD9D05F9}" destId="{F2ECE24F-343A-42A6-876E-D63AE4C1AC50}" srcOrd="2" destOrd="0" presId="urn:microsoft.com/office/officeart/2018/2/layout/IconVerticalSolidList"/>
    <dgm:cxn modelId="{6DC49095-EC0D-4410-8FEB-8089D260F2C6}" type="presParOf" srcId="{5D4A683B-CEEC-4BB2-AE3B-A29ACD9D05F9}" destId="{F95B06E1-AF3E-4B03-B67E-4C3DDB6F940D}" srcOrd="3" destOrd="0" presId="urn:microsoft.com/office/officeart/2018/2/layout/IconVerticalSolidList"/>
    <dgm:cxn modelId="{9258BB1F-254A-48E1-ACCF-7A777959F193}" type="presParOf" srcId="{DA27319E-DAC6-483B-A92F-0388493B10AB}" destId="{0476EA45-298C-4150-BD04-BA399EAA39C5}" srcOrd="1" destOrd="0" presId="urn:microsoft.com/office/officeart/2018/2/layout/IconVerticalSolidList"/>
    <dgm:cxn modelId="{982EFD71-4CF6-4CBF-883D-E5C5EF0F00F5}" type="presParOf" srcId="{DA27319E-DAC6-483B-A92F-0388493B10AB}" destId="{3BB3AF60-C92B-4C27-BE0D-BA1741E3E0B8}" srcOrd="2" destOrd="0" presId="urn:microsoft.com/office/officeart/2018/2/layout/IconVerticalSolidList"/>
    <dgm:cxn modelId="{840A0540-3455-47B1-806C-7E92404C48AF}" type="presParOf" srcId="{3BB3AF60-C92B-4C27-BE0D-BA1741E3E0B8}" destId="{C8D71B9D-74AB-4BF6-9593-E0E52C81B37A}" srcOrd="0" destOrd="0" presId="urn:microsoft.com/office/officeart/2018/2/layout/IconVerticalSolidList"/>
    <dgm:cxn modelId="{87AAE95C-9D8A-4C2C-95E4-D923BFEBBD5B}" type="presParOf" srcId="{3BB3AF60-C92B-4C27-BE0D-BA1741E3E0B8}" destId="{5D758B6B-7991-4B0E-AA6B-86621A0FE014}" srcOrd="1" destOrd="0" presId="urn:microsoft.com/office/officeart/2018/2/layout/IconVerticalSolidList"/>
    <dgm:cxn modelId="{C8519F3D-AE00-42A1-8A32-FBD0F192C4ED}" type="presParOf" srcId="{3BB3AF60-C92B-4C27-BE0D-BA1741E3E0B8}" destId="{95E77816-AA67-434D-AF56-9857491CFF43}" srcOrd="2" destOrd="0" presId="urn:microsoft.com/office/officeart/2018/2/layout/IconVerticalSolidList"/>
    <dgm:cxn modelId="{95154F9F-88A4-4135-85A6-46451355D18A}" type="presParOf" srcId="{3BB3AF60-C92B-4C27-BE0D-BA1741E3E0B8}" destId="{FE852239-B302-4B61-B9E7-296A2F7A430B}" srcOrd="3" destOrd="0" presId="urn:microsoft.com/office/officeart/2018/2/layout/IconVerticalSolidList"/>
    <dgm:cxn modelId="{1E739198-3E14-4A1D-967B-5BCA919141B4}" type="presParOf" srcId="{DA27319E-DAC6-483B-A92F-0388493B10AB}" destId="{82B0C482-1AF0-4C4A-A242-1E42FD978121}" srcOrd="3" destOrd="0" presId="urn:microsoft.com/office/officeart/2018/2/layout/IconVerticalSolidList"/>
    <dgm:cxn modelId="{0DB7E3FC-B8A1-4072-89AC-201E92C63195}" type="presParOf" srcId="{DA27319E-DAC6-483B-A92F-0388493B10AB}" destId="{93C3A44C-AAB8-44F6-902D-A4C19190688E}" srcOrd="4" destOrd="0" presId="urn:microsoft.com/office/officeart/2018/2/layout/IconVerticalSolidList"/>
    <dgm:cxn modelId="{E29D27C2-321C-410E-A8C7-AA4DA1C88ED6}" type="presParOf" srcId="{93C3A44C-AAB8-44F6-902D-A4C19190688E}" destId="{D4720AFB-D51F-4D28-A682-FCABF0344CFD}" srcOrd="0" destOrd="0" presId="urn:microsoft.com/office/officeart/2018/2/layout/IconVerticalSolidList"/>
    <dgm:cxn modelId="{A5D74FD0-FA11-4A89-AB24-0A953E5AD344}" type="presParOf" srcId="{93C3A44C-AAB8-44F6-902D-A4C19190688E}" destId="{BFFB6756-7FF0-48AC-B602-04B1BC6CE9C1}" srcOrd="1" destOrd="0" presId="urn:microsoft.com/office/officeart/2018/2/layout/IconVerticalSolidList"/>
    <dgm:cxn modelId="{4A0A835C-D197-42E4-9FB1-F5594E10A7C6}" type="presParOf" srcId="{93C3A44C-AAB8-44F6-902D-A4C19190688E}" destId="{3D27DA8D-2117-459B-B9D2-B3A0E32BD783}" srcOrd="2" destOrd="0" presId="urn:microsoft.com/office/officeart/2018/2/layout/IconVerticalSolidList"/>
    <dgm:cxn modelId="{39413A6D-97A5-4418-A039-19425B22EA21}" type="presParOf" srcId="{93C3A44C-AAB8-44F6-902D-A4C19190688E}" destId="{D8B151F5-1C90-4625-8632-8FB03FDFFED9}" srcOrd="3" destOrd="0" presId="urn:microsoft.com/office/officeart/2018/2/layout/IconVerticalSolidList"/>
    <dgm:cxn modelId="{AC9F3FE6-5FD6-4665-944F-405AD4CCAC71}" type="presParOf" srcId="{DA27319E-DAC6-483B-A92F-0388493B10AB}" destId="{7C94F418-D40D-49C7-A76F-A8D2247CE851}" srcOrd="5" destOrd="0" presId="urn:microsoft.com/office/officeart/2018/2/layout/IconVerticalSolidList"/>
    <dgm:cxn modelId="{752CF91F-5B2A-46E7-A963-CAC797ECA54B}" type="presParOf" srcId="{DA27319E-DAC6-483B-A92F-0388493B10AB}" destId="{D4428CF8-FF7D-4C7B-AA4D-A2F493D65138}" srcOrd="6" destOrd="0" presId="urn:microsoft.com/office/officeart/2018/2/layout/IconVerticalSolidList"/>
    <dgm:cxn modelId="{6267A1D8-6FF9-4AA6-BED1-8324839B021D}" type="presParOf" srcId="{D4428CF8-FF7D-4C7B-AA4D-A2F493D65138}" destId="{53E82A1C-2E61-42CE-9ECC-517CC67BF558}" srcOrd="0" destOrd="0" presId="urn:microsoft.com/office/officeart/2018/2/layout/IconVerticalSolidList"/>
    <dgm:cxn modelId="{D268E520-4F3E-4237-ABB3-D489C90639DD}" type="presParOf" srcId="{D4428CF8-FF7D-4C7B-AA4D-A2F493D65138}" destId="{A48E4C98-0979-4444-B7E4-CCD4B35AE673}" srcOrd="1" destOrd="0" presId="urn:microsoft.com/office/officeart/2018/2/layout/IconVerticalSolidList"/>
    <dgm:cxn modelId="{1537028E-7405-4A27-8D08-C1C67C38CF97}" type="presParOf" srcId="{D4428CF8-FF7D-4C7B-AA4D-A2F493D65138}" destId="{DDA74983-40C3-4ACE-9ECB-A356E8974046}" srcOrd="2" destOrd="0" presId="urn:microsoft.com/office/officeart/2018/2/layout/IconVerticalSolidList"/>
    <dgm:cxn modelId="{0C9EF388-3277-4870-A8F0-34A784804E14}" type="presParOf" srcId="{D4428CF8-FF7D-4C7B-AA4D-A2F493D65138}" destId="{7E7FCA25-0015-446F-A55C-5CA5DC686D5F}" srcOrd="3" destOrd="0" presId="urn:microsoft.com/office/officeart/2018/2/layout/IconVerticalSolidList"/>
    <dgm:cxn modelId="{C92CA4AD-AAB8-40DE-98A9-16C08F642802}" type="presParOf" srcId="{DA27319E-DAC6-483B-A92F-0388493B10AB}" destId="{928748D9-1AAB-4D4A-96E1-09606AFBF883}" srcOrd="7" destOrd="0" presId="urn:microsoft.com/office/officeart/2018/2/layout/IconVerticalSolidList"/>
    <dgm:cxn modelId="{DEAF106F-6E4C-4E6F-A3AD-691B842DA2D3}" type="presParOf" srcId="{DA27319E-DAC6-483B-A92F-0388493B10AB}" destId="{98C1C191-56D5-47F0-B0D9-AC61D3FFA7BD}" srcOrd="8" destOrd="0" presId="urn:microsoft.com/office/officeart/2018/2/layout/IconVerticalSolidList"/>
    <dgm:cxn modelId="{01B88F03-73AB-496F-9F01-9C4CC0F465DB}" type="presParOf" srcId="{98C1C191-56D5-47F0-B0D9-AC61D3FFA7BD}" destId="{E59AE76D-91ED-4732-8006-6A04706B4EB5}" srcOrd="0" destOrd="0" presId="urn:microsoft.com/office/officeart/2018/2/layout/IconVerticalSolidList"/>
    <dgm:cxn modelId="{F89E7E66-A73F-4505-8F7A-94D1525AB7F1}" type="presParOf" srcId="{98C1C191-56D5-47F0-B0D9-AC61D3FFA7BD}" destId="{B441E955-E19D-4FAA-B4D6-5662E9F5848E}" srcOrd="1" destOrd="0" presId="urn:microsoft.com/office/officeart/2018/2/layout/IconVerticalSolidList"/>
    <dgm:cxn modelId="{E9F084F0-8DC2-4139-9D0B-C6D9E129BEDD}" type="presParOf" srcId="{98C1C191-56D5-47F0-B0D9-AC61D3FFA7BD}" destId="{CDC1A36D-C529-46B3-BE29-271210C23576}" srcOrd="2" destOrd="0" presId="urn:microsoft.com/office/officeart/2018/2/layout/IconVerticalSolidList"/>
    <dgm:cxn modelId="{9AB3B494-267C-4D53-A2D0-4A32884BEDC9}" type="presParOf" srcId="{98C1C191-56D5-47F0-B0D9-AC61D3FFA7BD}" destId="{B35250FD-676B-4AAB-B1FC-5B1783765C0A}" srcOrd="3" destOrd="0" presId="urn:microsoft.com/office/officeart/2018/2/layout/IconVerticalSolidList"/>
    <dgm:cxn modelId="{03018DFB-9DAD-4500-853A-7D2209B59A38}" type="presParOf" srcId="{DA27319E-DAC6-483B-A92F-0388493B10AB}" destId="{902A693A-7F08-414F-A73E-8E4F6D7BA2CE}" srcOrd="9" destOrd="0" presId="urn:microsoft.com/office/officeart/2018/2/layout/IconVerticalSolidList"/>
    <dgm:cxn modelId="{0BBEEBF8-95F4-4E27-AD78-50E0271403F5}" type="presParOf" srcId="{DA27319E-DAC6-483B-A92F-0388493B10AB}" destId="{BF21B633-70FB-46C9-A1E8-0016D3968D2D}" srcOrd="10" destOrd="0" presId="urn:microsoft.com/office/officeart/2018/2/layout/IconVerticalSolidList"/>
    <dgm:cxn modelId="{AD0BEAED-FB98-4944-92D7-C214FD4690A3}" type="presParOf" srcId="{BF21B633-70FB-46C9-A1E8-0016D3968D2D}" destId="{1117416D-D925-42FF-B66A-9935E3BAB24A}" srcOrd="0" destOrd="0" presId="urn:microsoft.com/office/officeart/2018/2/layout/IconVerticalSolidList"/>
    <dgm:cxn modelId="{9390D6BC-95C2-47ED-9485-3ABBF5A0362B}" type="presParOf" srcId="{BF21B633-70FB-46C9-A1E8-0016D3968D2D}" destId="{395FA3DF-8E21-4E7F-80B1-DA203BA433A4}" srcOrd="1" destOrd="0" presId="urn:microsoft.com/office/officeart/2018/2/layout/IconVerticalSolidList"/>
    <dgm:cxn modelId="{BA557244-CDBD-4FCD-85E1-4B28C8F7AA20}" type="presParOf" srcId="{BF21B633-70FB-46C9-A1E8-0016D3968D2D}" destId="{ABCB1350-C10B-4916-A1D3-032C3260DAC7}" srcOrd="2" destOrd="0" presId="urn:microsoft.com/office/officeart/2018/2/layout/IconVerticalSolidList"/>
    <dgm:cxn modelId="{1F72CFB6-E3D6-452D-BBA8-EF85537B3541}" type="presParOf" srcId="{BF21B633-70FB-46C9-A1E8-0016D3968D2D}" destId="{2D5C1E7F-6E17-4289-9989-2F46C060BE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1DFC1-A93A-4B9E-9E49-D0D3D8EABFC1}">
      <dsp:nvSpPr>
        <dsp:cNvPr id="0" name=""/>
        <dsp:cNvSpPr/>
      </dsp:nvSpPr>
      <dsp:spPr>
        <a:xfrm>
          <a:off x="0" y="1922"/>
          <a:ext cx="7240146" cy="819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1276C-519A-4638-AB94-D7B571911E4A}">
      <dsp:nvSpPr>
        <dsp:cNvPr id="0" name=""/>
        <dsp:cNvSpPr/>
      </dsp:nvSpPr>
      <dsp:spPr>
        <a:xfrm>
          <a:off x="247831" y="186259"/>
          <a:ext cx="450602" cy="4506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B06E1-AF3E-4B03-B67E-4C3DDB6F940D}">
      <dsp:nvSpPr>
        <dsp:cNvPr id="0" name=""/>
        <dsp:cNvSpPr/>
      </dsp:nvSpPr>
      <dsp:spPr>
        <a:xfrm>
          <a:off x="946264" y="1922"/>
          <a:ext cx="6293881" cy="819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07" tIns="86707" rIns="86707" bIns="867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Fonctionnement</a:t>
          </a:r>
          <a:endParaRPr lang="en-US" sz="1900" kern="1200" dirty="0"/>
        </a:p>
      </dsp:txBody>
      <dsp:txXfrm>
        <a:off x="946264" y="1922"/>
        <a:ext cx="6293881" cy="819276"/>
      </dsp:txXfrm>
    </dsp:sp>
    <dsp:sp modelId="{C8D71B9D-74AB-4BF6-9593-E0E52C81B37A}">
      <dsp:nvSpPr>
        <dsp:cNvPr id="0" name=""/>
        <dsp:cNvSpPr/>
      </dsp:nvSpPr>
      <dsp:spPr>
        <a:xfrm>
          <a:off x="0" y="1026018"/>
          <a:ext cx="7240146" cy="819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58B6B-7991-4B0E-AA6B-86621A0FE014}">
      <dsp:nvSpPr>
        <dsp:cNvPr id="0" name=""/>
        <dsp:cNvSpPr/>
      </dsp:nvSpPr>
      <dsp:spPr>
        <a:xfrm>
          <a:off x="247831" y="1210355"/>
          <a:ext cx="450602" cy="4506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52239-B302-4B61-B9E7-296A2F7A430B}">
      <dsp:nvSpPr>
        <dsp:cNvPr id="0" name=""/>
        <dsp:cNvSpPr/>
      </dsp:nvSpPr>
      <dsp:spPr>
        <a:xfrm>
          <a:off x="946264" y="1026018"/>
          <a:ext cx="6293881" cy="819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07" tIns="86707" rIns="86707" bIns="867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Rendement</a:t>
          </a:r>
          <a:endParaRPr lang="en-US" sz="1900" kern="1200"/>
        </a:p>
      </dsp:txBody>
      <dsp:txXfrm>
        <a:off x="946264" y="1026018"/>
        <a:ext cx="6293881" cy="819276"/>
      </dsp:txXfrm>
    </dsp:sp>
    <dsp:sp modelId="{D4720AFB-D51F-4D28-A682-FCABF0344CFD}">
      <dsp:nvSpPr>
        <dsp:cNvPr id="0" name=""/>
        <dsp:cNvSpPr/>
      </dsp:nvSpPr>
      <dsp:spPr>
        <a:xfrm>
          <a:off x="0" y="2050113"/>
          <a:ext cx="7240146" cy="819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B6756-7FF0-48AC-B602-04B1BC6CE9C1}">
      <dsp:nvSpPr>
        <dsp:cNvPr id="0" name=""/>
        <dsp:cNvSpPr/>
      </dsp:nvSpPr>
      <dsp:spPr>
        <a:xfrm>
          <a:off x="247831" y="2234451"/>
          <a:ext cx="450602" cy="4506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151F5-1C90-4625-8632-8FB03FDFFED9}">
      <dsp:nvSpPr>
        <dsp:cNvPr id="0" name=""/>
        <dsp:cNvSpPr/>
      </dsp:nvSpPr>
      <dsp:spPr>
        <a:xfrm>
          <a:off x="946264" y="2050113"/>
          <a:ext cx="6293881" cy="819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07" tIns="86707" rIns="86707" bIns="867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Impact écologique</a:t>
          </a:r>
          <a:endParaRPr lang="en-US" sz="1900" kern="1200" dirty="0"/>
        </a:p>
      </dsp:txBody>
      <dsp:txXfrm>
        <a:off x="946264" y="2050113"/>
        <a:ext cx="6293881" cy="819276"/>
      </dsp:txXfrm>
    </dsp:sp>
    <dsp:sp modelId="{53E82A1C-2E61-42CE-9ECC-517CC67BF558}">
      <dsp:nvSpPr>
        <dsp:cNvPr id="0" name=""/>
        <dsp:cNvSpPr/>
      </dsp:nvSpPr>
      <dsp:spPr>
        <a:xfrm>
          <a:off x="0" y="3074209"/>
          <a:ext cx="7240146" cy="819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8E4C98-0979-4444-B7E4-CCD4B35AE673}">
      <dsp:nvSpPr>
        <dsp:cNvPr id="0" name=""/>
        <dsp:cNvSpPr/>
      </dsp:nvSpPr>
      <dsp:spPr>
        <a:xfrm>
          <a:off x="247831" y="3258546"/>
          <a:ext cx="450602" cy="4506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FCA25-0015-446F-A55C-5CA5DC686D5F}">
      <dsp:nvSpPr>
        <dsp:cNvPr id="0" name=""/>
        <dsp:cNvSpPr/>
      </dsp:nvSpPr>
      <dsp:spPr>
        <a:xfrm>
          <a:off x="946264" y="3074209"/>
          <a:ext cx="6293881" cy="819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07" tIns="86707" rIns="86707" bIns="867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Allemagne et Solaire</a:t>
          </a:r>
          <a:endParaRPr lang="en-US" sz="1900" kern="1200"/>
        </a:p>
      </dsp:txBody>
      <dsp:txXfrm>
        <a:off x="946264" y="3074209"/>
        <a:ext cx="6293881" cy="819276"/>
      </dsp:txXfrm>
    </dsp:sp>
    <dsp:sp modelId="{E59AE76D-91ED-4732-8006-6A04706B4EB5}">
      <dsp:nvSpPr>
        <dsp:cNvPr id="0" name=""/>
        <dsp:cNvSpPr/>
      </dsp:nvSpPr>
      <dsp:spPr>
        <a:xfrm>
          <a:off x="0" y="4098305"/>
          <a:ext cx="7240146" cy="819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1E955-E19D-4FAA-B4D6-5662E9F5848E}">
      <dsp:nvSpPr>
        <dsp:cNvPr id="0" name=""/>
        <dsp:cNvSpPr/>
      </dsp:nvSpPr>
      <dsp:spPr>
        <a:xfrm>
          <a:off x="247831" y="4282642"/>
          <a:ext cx="450602" cy="4506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250FD-676B-4AAB-B1FC-5B1783765C0A}">
      <dsp:nvSpPr>
        <dsp:cNvPr id="0" name=""/>
        <dsp:cNvSpPr/>
      </dsp:nvSpPr>
      <dsp:spPr>
        <a:xfrm>
          <a:off x="946264" y="4098305"/>
          <a:ext cx="6293881" cy="819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07" tIns="86707" rIns="86707" bIns="867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Améliorations futures</a:t>
          </a:r>
          <a:endParaRPr lang="en-US" sz="1900" kern="1200"/>
        </a:p>
      </dsp:txBody>
      <dsp:txXfrm>
        <a:off x="946264" y="4098305"/>
        <a:ext cx="6293881" cy="819276"/>
      </dsp:txXfrm>
    </dsp:sp>
    <dsp:sp modelId="{1117416D-D925-42FF-B66A-9935E3BAB24A}">
      <dsp:nvSpPr>
        <dsp:cNvPr id="0" name=""/>
        <dsp:cNvSpPr/>
      </dsp:nvSpPr>
      <dsp:spPr>
        <a:xfrm>
          <a:off x="0" y="5122400"/>
          <a:ext cx="7240146" cy="8192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FA3DF-8E21-4E7F-80B1-DA203BA433A4}">
      <dsp:nvSpPr>
        <dsp:cNvPr id="0" name=""/>
        <dsp:cNvSpPr/>
      </dsp:nvSpPr>
      <dsp:spPr>
        <a:xfrm>
          <a:off x="247831" y="5306738"/>
          <a:ext cx="450602" cy="4506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C1E7F-6E17-4289-9989-2F46C060BEDA}">
      <dsp:nvSpPr>
        <dsp:cNvPr id="0" name=""/>
        <dsp:cNvSpPr/>
      </dsp:nvSpPr>
      <dsp:spPr>
        <a:xfrm>
          <a:off x="946264" y="5122400"/>
          <a:ext cx="6293881" cy="819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707" tIns="86707" rIns="86707" bIns="8670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Ouverture</a:t>
          </a:r>
          <a:endParaRPr lang="en-US" sz="1900" kern="1200" dirty="0"/>
        </a:p>
      </dsp:txBody>
      <dsp:txXfrm>
        <a:off x="946264" y="5122400"/>
        <a:ext cx="6293881" cy="819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7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2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9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57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73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15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9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91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6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5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Monday, February 28, 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4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February 28, 2022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‹N°›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7306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896123-1B32-4CB1-B2ED-E34BBC26B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éo 3">
            <a:extLst>
              <a:ext uri="{FF2B5EF4-FFF2-40B4-BE49-F238E27FC236}">
                <a16:creationId xmlns:a16="http://schemas.microsoft.com/office/drawing/2014/main" id="{D08BC81D-CFC5-4AE1-997A-BCE20559A3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90" r="-1" b="-1"/>
          <a:stretch/>
        </p:blipFill>
        <p:spPr>
          <a:xfrm>
            <a:off x="20" y="-1"/>
            <a:ext cx="12191980" cy="685757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19FDB4D-987D-4C87-A179-9D4616AB2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9931"/>
            <a:ext cx="12191999" cy="5058137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2F4557-9E9E-49E1-A0EB-AE03C075E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534" y="504966"/>
            <a:ext cx="8952932" cy="3043213"/>
          </a:xfrm>
        </p:spPr>
        <p:txBody>
          <a:bodyPr anchor="b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Panneaux</a:t>
            </a:r>
            <a:br>
              <a:rPr lang="fr-FR" dirty="0">
                <a:solidFill>
                  <a:schemeClr val="bg1"/>
                </a:solidFill>
              </a:rPr>
            </a:b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photovoltaïques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6502290-60C2-4E77-843C-B0689FDC2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191" y="3749746"/>
            <a:ext cx="6291618" cy="2208321"/>
          </a:xfrm>
        </p:spPr>
        <p:txBody>
          <a:bodyPr anchor="t">
            <a:normAutofit/>
          </a:bodyPr>
          <a:lstStyle/>
          <a:p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21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3">
            <a:extLst>
              <a:ext uri="{FF2B5EF4-FFF2-40B4-BE49-F238E27FC236}">
                <a16:creationId xmlns:a16="http://schemas.microsoft.com/office/drawing/2014/main" id="{040BF4A1-714C-419E-A19F-578DE93BE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5">
            <a:extLst>
              <a:ext uri="{FF2B5EF4-FFF2-40B4-BE49-F238E27FC236}">
                <a16:creationId xmlns:a16="http://schemas.microsoft.com/office/drawing/2014/main" id="{2F91A9BD-D57F-4941-931F-40597AB3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C54DB264-9467-4730-B9E9-C9A97DD66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90128" y="3609527"/>
            <a:ext cx="245834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9">
            <a:extLst>
              <a:ext uri="{FF2B5EF4-FFF2-40B4-BE49-F238E27FC236}">
                <a16:creationId xmlns:a16="http://schemas.microsoft.com/office/drawing/2014/main" id="{BB097F88-2120-47B4-B891-5B28F66BB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227" y="1757079"/>
            <a:ext cx="3900088" cy="4178958"/>
          </a:xfrm>
          <a:custGeom>
            <a:avLst/>
            <a:gdLst>
              <a:gd name="connsiteX0" fmla="*/ 2431956 w 3900088"/>
              <a:gd name="connsiteY0" fmla="*/ 93939 h 4178958"/>
              <a:gd name="connsiteX1" fmla="*/ 3900088 w 3900088"/>
              <a:gd name="connsiteY1" fmla="*/ 2089479 h 4178958"/>
              <a:gd name="connsiteX2" fmla="*/ 1810609 w 3900088"/>
              <a:gd name="connsiteY2" fmla="*/ 4178958 h 4178958"/>
              <a:gd name="connsiteX3" fmla="*/ 77980 w 3900088"/>
              <a:gd name="connsiteY3" fmla="*/ 3257727 h 4178958"/>
              <a:gd name="connsiteX4" fmla="*/ 0 w 3900088"/>
              <a:gd name="connsiteY4" fmla="*/ 3129367 h 4178958"/>
              <a:gd name="connsiteX5" fmla="*/ 831517 w 3900088"/>
              <a:gd name="connsiteY5" fmla="*/ 244059 h 4178958"/>
              <a:gd name="connsiteX6" fmla="*/ 997290 w 3900088"/>
              <a:gd name="connsiteY6" fmla="*/ 164202 h 4178958"/>
              <a:gd name="connsiteX7" fmla="*/ 1810609 w 3900088"/>
              <a:gd name="connsiteY7" fmla="*/ 0 h 4178958"/>
              <a:gd name="connsiteX8" fmla="*/ 2431956 w 3900088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8" h="4178958">
                <a:moveTo>
                  <a:pt x="2431956" y="93939"/>
                </a:moveTo>
                <a:cubicBezTo>
                  <a:pt x="3282517" y="358491"/>
                  <a:pt x="3900088" y="1151865"/>
                  <a:pt x="3900088" y="2089479"/>
                </a:cubicBezTo>
                <a:cubicBezTo>
                  <a:pt x="3900088" y="3243466"/>
                  <a:pt x="2964596" y="4178958"/>
                  <a:pt x="1810609" y="4178958"/>
                </a:cubicBezTo>
                <a:cubicBezTo>
                  <a:pt x="1089367" y="4178958"/>
                  <a:pt x="453475" y="3813531"/>
                  <a:pt x="77980" y="3257727"/>
                </a:cubicBezTo>
                <a:lnTo>
                  <a:pt x="0" y="3129367"/>
                </a:lnTo>
                <a:lnTo>
                  <a:pt x="831517" y="244059"/>
                </a:lnTo>
                <a:lnTo>
                  <a:pt x="997290" y="164202"/>
                </a:lnTo>
                <a:cubicBezTo>
                  <a:pt x="1247271" y="58468"/>
                  <a:pt x="1522112" y="0"/>
                  <a:pt x="1810609" y="0"/>
                </a:cubicBezTo>
                <a:cubicBezTo>
                  <a:pt x="2026982" y="0"/>
                  <a:pt x="2235673" y="32888"/>
                  <a:pt x="2431956" y="93939"/>
                </a:cubicBezTo>
                <a:close/>
              </a:path>
            </a:pathLst>
          </a:custGeom>
          <a:gradFill>
            <a:gsLst>
              <a:gs pos="36000">
                <a:schemeClr val="accent6">
                  <a:lumMod val="60000"/>
                  <a:lumOff val="40000"/>
                  <a:alpha val="6000"/>
                </a:schemeClr>
              </a:gs>
              <a:gs pos="100000">
                <a:schemeClr val="accent6">
                  <a:alpha val="2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BF9338F5-05AB-4DC5-BD1C-1A9F26C38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0099" y="411154"/>
            <a:ext cx="4395601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1CCB99-C197-4694-8324-2D2DF0A2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68280"/>
            <a:ext cx="3390645" cy="3363597"/>
          </a:xfrm>
        </p:spPr>
        <p:txBody>
          <a:bodyPr>
            <a:normAutofit/>
          </a:bodyPr>
          <a:lstStyle/>
          <a:p>
            <a:pPr algn="r"/>
            <a:r>
              <a:rPr lang="fr-FR" sz="3200">
                <a:solidFill>
                  <a:schemeClr val="bg1"/>
                </a:solidFill>
              </a:rPr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078587BB-1914-4CC4-815A-54FF12B1F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422255"/>
              </p:ext>
            </p:extLst>
          </p:nvPr>
        </p:nvGraphicFramePr>
        <p:xfrm>
          <a:off x="4494654" y="457200"/>
          <a:ext cx="7240146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685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A21FCE60-ECDB-49B1-A5CA-E834A33F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1" y="3587283"/>
            <a:ext cx="250197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4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489" y="1757117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1225EE-12F1-4C75-824E-330AAD01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86855"/>
            <a:ext cx="3184223" cy="3507474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1800" dirty="0" err="1">
                <a:solidFill>
                  <a:schemeClr val="bg1"/>
                </a:solidFill>
              </a:rPr>
              <a:t>Fonctionnement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314971-6F94-4F41-82F2-A3BD944D8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695" y="833535"/>
            <a:ext cx="3222170" cy="5361991"/>
          </a:xfrm>
        </p:spPr>
        <p:txBody>
          <a:bodyPr vert="horz" lIns="0" tIns="0" rIns="0" bIns="0" rtlCol="0">
            <a:normAutofit lnSpcReduction="10000"/>
          </a:bodyPr>
          <a:lstStyle/>
          <a:p>
            <a:pPr indent="-228600" algn="just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dirty="0" err="1"/>
              <a:t>panneaux</a:t>
            </a:r>
            <a:r>
              <a:rPr lang="en-US" dirty="0"/>
              <a:t> </a:t>
            </a:r>
            <a:r>
              <a:rPr lang="en-US" dirty="0" err="1"/>
              <a:t>photovoltaïques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principalement</a:t>
            </a:r>
            <a:r>
              <a:rPr lang="en-US" dirty="0"/>
              <a:t> </a:t>
            </a:r>
            <a:r>
              <a:rPr lang="en-US" dirty="0" err="1"/>
              <a:t>constitués</a:t>
            </a:r>
            <a:r>
              <a:rPr lang="en-US" dirty="0"/>
              <a:t> de </a:t>
            </a:r>
            <a:r>
              <a:rPr lang="en-US" dirty="0" err="1"/>
              <a:t>silicium</a:t>
            </a:r>
            <a:r>
              <a:rPr lang="en-US" dirty="0"/>
              <a:t>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dirty="0"/>
              <a:t>Sur la </a:t>
            </a:r>
            <a:r>
              <a:rPr lang="en-US" dirty="0" err="1"/>
              <a:t>couche</a:t>
            </a:r>
            <a:r>
              <a:rPr lang="en-US" dirty="0"/>
              <a:t> supérieure,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disposés</a:t>
            </a:r>
            <a:r>
              <a:rPr lang="en-US" dirty="0"/>
              <a:t> des </a:t>
            </a:r>
            <a:r>
              <a:rPr lang="en-US" dirty="0" err="1"/>
              <a:t>atomes</a:t>
            </a:r>
            <a:r>
              <a:rPr lang="en-US" dirty="0"/>
              <a:t> de </a:t>
            </a:r>
            <a:r>
              <a:rPr lang="en-US" dirty="0" err="1"/>
              <a:t>phosphore</a:t>
            </a:r>
            <a:r>
              <a:rPr lang="en-US" dirty="0"/>
              <a:t>, qui </a:t>
            </a:r>
            <a:r>
              <a:rPr lang="en-US" dirty="0" err="1"/>
              <a:t>possèdent</a:t>
            </a:r>
            <a:r>
              <a:rPr lang="en-US" dirty="0"/>
              <a:t> un surplus </a:t>
            </a:r>
            <a:r>
              <a:rPr lang="en-US" dirty="0" err="1"/>
              <a:t>d’électrons</a:t>
            </a:r>
            <a:r>
              <a:rPr lang="en-US" dirty="0"/>
              <a:t> par rapport au </a:t>
            </a:r>
            <a:r>
              <a:rPr lang="en-US" dirty="0" err="1"/>
              <a:t>silicium</a:t>
            </a:r>
            <a:r>
              <a:rPr lang="en-US" dirty="0"/>
              <a:t>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dirty="0"/>
              <a:t>Sur la </a:t>
            </a:r>
            <a:r>
              <a:rPr lang="en-US" dirty="0" err="1"/>
              <a:t>couche</a:t>
            </a:r>
            <a:r>
              <a:rPr lang="en-US" dirty="0"/>
              <a:t> </a:t>
            </a:r>
            <a:r>
              <a:rPr lang="en-US" dirty="0" err="1"/>
              <a:t>inférieure</a:t>
            </a:r>
            <a:r>
              <a:rPr lang="en-US" dirty="0"/>
              <a:t>,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disposés</a:t>
            </a:r>
            <a:r>
              <a:rPr lang="en-US" dirty="0"/>
              <a:t> des </a:t>
            </a:r>
            <a:r>
              <a:rPr lang="en-US" dirty="0" err="1"/>
              <a:t>atomes</a:t>
            </a:r>
            <a:r>
              <a:rPr lang="en-US" dirty="0"/>
              <a:t> de bore, qui </a:t>
            </a:r>
            <a:r>
              <a:rPr lang="en-US" dirty="0" err="1"/>
              <a:t>présentent</a:t>
            </a:r>
            <a:r>
              <a:rPr lang="en-US" dirty="0"/>
              <a:t> un </a:t>
            </a:r>
            <a:r>
              <a:rPr lang="en-US" dirty="0" err="1"/>
              <a:t>déficit</a:t>
            </a:r>
            <a:r>
              <a:rPr lang="en-US" dirty="0"/>
              <a:t> </a:t>
            </a:r>
            <a:r>
              <a:rPr lang="en-US" dirty="0" err="1"/>
              <a:t>d’électrons</a:t>
            </a:r>
            <a:r>
              <a:rPr lang="en-US" dirty="0"/>
              <a:t> par rapport au </a:t>
            </a:r>
            <a:r>
              <a:rPr lang="en-US" dirty="0" err="1"/>
              <a:t>silicium</a:t>
            </a:r>
            <a:r>
              <a:rPr lang="en-US" dirty="0"/>
              <a:t>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dirty="0" err="1"/>
              <a:t>Lorsque</a:t>
            </a:r>
            <a:r>
              <a:rPr lang="en-US" dirty="0"/>
              <a:t> les photons </a:t>
            </a:r>
            <a:r>
              <a:rPr lang="en-US" dirty="0" err="1"/>
              <a:t>vont</a:t>
            </a:r>
            <a:r>
              <a:rPr lang="en-US" dirty="0"/>
              <a:t> traverser les </a:t>
            </a:r>
            <a:r>
              <a:rPr lang="en-US" dirty="0" err="1"/>
              <a:t>panneaux</a:t>
            </a:r>
            <a:r>
              <a:rPr lang="en-US" dirty="0"/>
              <a:t>, </a:t>
            </a:r>
            <a:r>
              <a:rPr lang="en-US" dirty="0" err="1"/>
              <a:t>cette</a:t>
            </a:r>
            <a:r>
              <a:rPr lang="en-US" dirty="0"/>
              <a:t> configuration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créer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circulation </a:t>
            </a:r>
            <a:r>
              <a:rPr lang="en-US" dirty="0" err="1"/>
              <a:t>d’électrons</a:t>
            </a:r>
            <a:r>
              <a:rPr lang="en-US" dirty="0"/>
              <a:t>, </a:t>
            </a:r>
            <a:r>
              <a:rPr lang="en-US" dirty="0" err="1"/>
              <a:t>synonyme</a:t>
            </a:r>
            <a:r>
              <a:rPr lang="en-US" dirty="0"/>
              <a:t> de courant </a:t>
            </a:r>
            <a:r>
              <a:rPr lang="en-US" dirty="0" err="1"/>
              <a:t>électrique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8" name="Picture 4" descr="Caractéristiques électriques des cellules et des modules photovoltaïques -  Energie Plus Le Site">
            <a:extLst>
              <a:ext uri="{FF2B5EF4-FFF2-40B4-BE49-F238E27FC236}">
                <a16:creationId xmlns:a16="http://schemas.microsoft.com/office/drawing/2014/main" id="{D3A3D011-F558-4170-9CB6-89C517F96C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5300" y="1922383"/>
            <a:ext cx="3619500" cy="301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144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006B7FC8-9C5A-4B07-99F6-3FF4F0500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0D096B9-E2A9-4907-8AA6-44183A98A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4">
                  <a:alpha val="52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8DC8FFA-551D-4179-8098-F7020A6B3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9639" y="153692"/>
            <a:ext cx="4337877" cy="4038600"/>
          </a:xfrm>
          <a:prstGeom prst="rect">
            <a:avLst/>
          </a:prstGeom>
          <a:gradFill>
            <a:gsLst>
              <a:gs pos="8000">
                <a:schemeClr val="accent5">
                  <a:alpha val="56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7F704F97-5616-4BF4-973D-20EA0D7DB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1266" y="3580665"/>
            <a:ext cx="2516071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D83D16B0-C2A0-40BB-B4B6-F629839EA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637644" y="1795692"/>
            <a:ext cx="4178958" cy="4178958"/>
          </a:xfrm>
          <a:prstGeom prst="ellipse">
            <a:avLst/>
          </a:prstGeom>
          <a:gradFill>
            <a:gsLst>
              <a:gs pos="37000">
                <a:schemeClr val="bg1">
                  <a:alpha val="0"/>
                </a:schemeClr>
              </a:gs>
              <a:gs pos="100000">
                <a:schemeClr val="accent6">
                  <a:alpha val="28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FB3C86-B991-40AE-A250-AD5FD037A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71" y="838537"/>
            <a:ext cx="3119718" cy="3150607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dirty="0" err="1">
                <a:solidFill>
                  <a:schemeClr val="bg1"/>
                </a:solidFill>
              </a:rPr>
              <a:t>rendement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2FE333-842C-4CE7-9E43-120CC0A74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38040" y="692473"/>
            <a:ext cx="3133491" cy="5556861"/>
          </a:xfrm>
        </p:spPr>
        <p:txBody>
          <a:bodyPr vert="horz" lIns="0" tIns="0" rIns="0" bIns="0" rtlCol="0" anchor="ctr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En</a:t>
            </a:r>
            <a:r>
              <a:rPr lang="en-US" dirty="0"/>
              <a:t> 1878, les premières cellules </a:t>
            </a:r>
            <a:r>
              <a:rPr lang="en-US" dirty="0" err="1"/>
              <a:t>photovoltaïques</a:t>
            </a:r>
            <a:r>
              <a:rPr lang="en-US" dirty="0"/>
              <a:t> </a:t>
            </a:r>
            <a:r>
              <a:rPr lang="en-US" dirty="0" err="1"/>
              <a:t>possèdent</a:t>
            </a:r>
            <a:r>
              <a:rPr lang="en-US" dirty="0"/>
              <a:t> des </a:t>
            </a:r>
            <a:r>
              <a:rPr lang="en-US" dirty="0" err="1"/>
              <a:t>rendements</a:t>
            </a:r>
            <a:r>
              <a:rPr lang="en-US" dirty="0"/>
              <a:t> </a:t>
            </a:r>
            <a:r>
              <a:rPr lang="en-US" dirty="0" err="1"/>
              <a:t>d’environ</a:t>
            </a:r>
            <a:r>
              <a:rPr lang="en-US" dirty="0"/>
              <a:t> 1%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Aujourd’hui</a:t>
            </a:r>
            <a:r>
              <a:rPr lang="en-US" dirty="0"/>
              <a:t>, les cellules </a:t>
            </a:r>
            <a:r>
              <a:rPr lang="en-US" dirty="0" err="1"/>
              <a:t>photovoltaïques</a:t>
            </a:r>
            <a:r>
              <a:rPr lang="en-US" dirty="0"/>
              <a:t> </a:t>
            </a:r>
            <a:r>
              <a:rPr lang="en-US" dirty="0" err="1"/>
              <a:t>commercialisées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un </a:t>
            </a:r>
            <a:r>
              <a:rPr lang="en-US" dirty="0" err="1"/>
              <a:t>rendement</a:t>
            </a:r>
            <a:r>
              <a:rPr lang="en-US" dirty="0"/>
              <a:t> </a:t>
            </a:r>
            <a:r>
              <a:rPr lang="en-US" dirty="0" err="1"/>
              <a:t>d’environ</a:t>
            </a:r>
            <a:r>
              <a:rPr lang="en-US" dirty="0"/>
              <a:t> 20%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Cependant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rendement</a:t>
            </a:r>
            <a:r>
              <a:rPr lang="en-US" dirty="0"/>
              <a:t> </a:t>
            </a:r>
            <a:r>
              <a:rPr lang="en-US" dirty="0" err="1"/>
              <a:t>restera</a:t>
            </a:r>
            <a:r>
              <a:rPr lang="en-US" dirty="0"/>
              <a:t> </a:t>
            </a:r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limité</a:t>
            </a:r>
            <a:r>
              <a:rPr lang="en-US" dirty="0"/>
              <a:t> à environ 33,7%.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dirty="0" err="1"/>
              <a:t>limite</a:t>
            </a:r>
            <a:r>
              <a:rPr lang="en-US" dirty="0"/>
              <a:t> </a:t>
            </a:r>
            <a:r>
              <a:rPr lang="fr-FR" dirty="0"/>
              <a:t>de rendement de </a:t>
            </a:r>
            <a:r>
              <a:rPr lang="fr-FR" dirty="0" err="1"/>
              <a:t>Shockley-Queisser</a:t>
            </a:r>
            <a:r>
              <a:rPr lang="fr-FR" dirty="0"/>
              <a:t>, calculé en 1961.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fr-FR" dirty="0"/>
              <a:t>De plus, il ne faut pas oublier de prendre en compte le fait que, chaque année, les rendements baissent jusqu’à 1% à cause de l’usure.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</p:txBody>
      </p:sp>
      <p:pic>
        <p:nvPicPr>
          <p:cNvPr id="1026" name="Picture 2" descr="2. Analyser le potentiel de production photovoltaïque | Guide Bâtiment  Durable">
            <a:extLst>
              <a:ext uri="{FF2B5EF4-FFF2-40B4-BE49-F238E27FC236}">
                <a16:creationId xmlns:a16="http://schemas.microsoft.com/office/drawing/2014/main" id="{897EA20D-0D1B-4146-AA4A-5DC4F84304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1" r="3696" b="4"/>
          <a:stretch/>
        </p:blipFill>
        <p:spPr bwMode="auto">
          <a:xfrm>
            <a:off x="7888936" y="669790"/>
            <a:ext cx="4069387" cy="220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6: Limite de rendement de Shockley-Queisser en fonction du gap en... |  Download Scientific Diagram">
            <a:extLst>
              <a:ext uri="{FF2B5EF4-FFF2-40B4-BE49-F238E27FC236}">
                <a16:creationId xmlns:a16="http://schemas.microsoft.com/office/drawing/2014/main" id="{65A7F34C-7547-4532-98E4-BA650FE4EC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69" b="-3"/>
          <a:stretch/>
        </p:blipFill>
        <p:spPr bwMode="auto">
          <a:xfrm>
            <a:off x="8317128" y="3559869"/>
            <a:ext cx="3223436" cy="2628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382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1FCE60-ECDB-49B1-A5CA-E834A33F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1" y="3587283"/>
            <a:ext cx="250197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4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489" y="1757117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822023-2663-4BCB-AB80-7D156B2A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80" y="586855"/>
            <a:ext cx="3131093" cy="3507474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3000" dirty="0">
                <a:solidFill>
                  <a:schemeClr val="bg1"/>
                </a:solidFill>
              </a:rPr>
              <a:t>Impact </a:t>
            </a:r>
            <a:r>
              <a:rPr lang="en-US" sz="3000" dirty="0" err="1">
                <a:solidFill>
                  <a:schemeClr val="bg1"/>
                </a:solidFill>
              </a:rPr>
              <a:t>ecologique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244B2C-3403-4990-9AE6-95F5B8EE9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78695" y="833535"/>
            <a:ext cx="3550880" cy="5361991"/>
          </a:xfrm>
        </p:spPr>
        <p:txBody>
          <a:bodyPr vert="horz" lIns="0" tIns="0" rIns="0" bIns="0" rtlCol="0">
            <a:normAutofit fontScale="925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9 millions de </a:t>
            </a:r>
            <a:r>
              <a:rPr lang="en-US" dirty="0" err="1"/>
              <a:t>tonnes</a:t>
            </a:r>
            <a:r>
              <a:rPr lang="en-US" dirty="0"/>
              <a:t> de </a:t>
            </a:r>
            <a:r>
              <a:rPr lang="en-US" dirty="0" err="1"/>
              <a:t>charbon</a:t>
            </a:r>
            <a:r>
              <a:rPr lang="en-US" dirty="0"/>
              <a:t> brulé pour </a:t>
            </a:r>
            <a:r>
              <a:rPr lang="en-US" dirty="0" err="1"/>
              <a:t>extraire</a:t>
            </a:r>
            <a:r>
              <a:rPr lang="en-US" dirty="0"/>
              <a:t> 7 millions de </a:t>
            </a:r>
            <a:r>
              <a:rPr lang="en-US" dirty="0" err="1"/>
              <a:t>tonnes</a:t>
            </a:r>
            <a:r>
              <a:rPr lang="en-US" dirty="0"/>
              <a:t> de </a:t>
            </a:r>
            <a:r>
              <a:rPr lang="en-US" dirty="0" err="1"/>
              <a:t>silicium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Le </a:t>
            </a:r>
            <a:r>
              <a:rPr lang="en-US" dirty="0" err="1"/>
              <a:t>solaire</a:t>
            </a:r>
            <a:r>
              <a:rPr lang="en-US" dirty="0"/>
              <a:t> </a:t>
            </a:r>
            <a:r>
              <a:rPr lang="en-US" dirty="0" err="1"/>
              <a:t>demande</a:t>
            </a:r>
            <a:r>
              <a:rPr lang="en-US" dirty="0"/>
              <a:t> de la place. Par </a:t>
            </a:r>
            <a:r>
              <a:rPr lang="en-US" dirty="0" err="1"/>
              <a:t>exemple</a:t>
            </a:r>
            <a:r>
              <a:rPr lang="en-US" dirty="0"/>
              <a:t>, le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Horizeo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Gironde </a:t>
            </a:r>
            <a:r>
              <a:rPr lang="en-US" dirty="0" err="1"/>
              <a:t>prévoit</a:t>
            </a:r>
            <a:r>
              <a:rPr lang="en-US" dirty="0"/>
              <a:t> la destruction de 10 millions de m² de </a:t>
            </a:r>
            <a:r>
              <a:rPr lang="en-US" dirty="0" err="1"/>
              <a:t>forêt</a:t>
            </a:r>
            <a:r>
              <a:rPr lang="en-US" dirty="0"/>
              <a:t> pour installer le plus grand parc </a:t>
            </a:r>
            <a:r>
              <a:rPr lang="en-US" dirty="0" err="1"/>
              <a:t>photovoltaïque</a:t>
            </a:r>
            <a:r>
              <a:rPr lang="en-US" dirty="0"/>
              <a:t> </a:t>
            </a:r>
            <a:r>
              <a:rPr lang="en-US" dirty="0" err="1"/>
              <a:t>d’Europe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De plus, malgré que 94% des </a:t>
            </a:r>
            <a:r>
              <a:rPr lang="en-US" dirty="0" err="1"/>
              <a:t>matériaux</a:t>
            </a:r>
            <a:r>
              <a:rPr lang="en-US" dirty="0"/>
              <a:t> </a:t>
            </a:r>
            <a:r>
              <a:rPr lang="en-US" dirty="0" err="1"/>
              <a:t>utilisés</a:t>
            </a:r>
            <a:r>
              <a:rPr lang="en-US" dirty="0"/>
              <a:t> </a:t>
            </a:r>
            <a:r>
              <a:rPr lang="en-US" dirty="0" err="1"/>
              <a:t>soient</a:t>
            </a:r>
            <a:r>
              <a:rPr lang="en-US" dirty="0"/>
              <a:t> recyclables, la fin de vie des </a:t>
            </a:r>
            <a:r>
              <a:rPr lang="en-US" dirty="0" err="1"/>
              <a:t>panneaux</a:t>
            </a:r>
            <a:r>
              <a:rPr lang="en-US" dirty="0"/>
              <a:t> </a:t>
            </a:r>
            <a:r>
              <a:rPr lang="en-US" dirty="0" err="1"/>
              <a:t>photovoltaïques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à </a:t>
            </a:r>
            <a:r>
              <a:rPr lang="en-US" dirty="0" err="1"/>
              <a:t>négliger</a:t>
            </a:r>
            <a:r>
              <a:rPr lang="en-US" dirty="0"/>
              <a:t>.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effet</a:t>
            </a:r>
            <a:r>
              <a:rPr lang="en-US" dirty="0"/>
              <a:t>, le </a:t>
            </a:r>
            <a:r>
              <a:rPr lang="en-US" dirty="0" err="1"/>
              <a:t>silicium</a:t>
            </a:r>
            <a:r>
              <a:rPr lang="en-US" dirty="0"/>
              <a:t>, par </a:t>
            </a:r>
            <a:r>
              <a:rPr lang="en-US" dirty="0" err="1"/>
              <a:t>exemple</a:t>
            </a:r>
            <a:r>
              <a:rPr lang="en-US" dirty="0"/>
              <a:t>, a </a:t>
            </a:r>
            <a:r>
              <a:rPr lang="en-US" dirty="0" err="1"/>
              <a:t>besoin</a:t>
            </a:r>
            <a:r>
              <a:rPr lang="en-US" dirty="0"/>
              <a:t> d’être </a:t>
            </a:r>
            <a:r>
              <a:rPr lang="en-US" dirty="0" err="1"/>
              <a:t>chauffé</a:t>
            </a:r>
            <a:r>
              <a:rPr lang="en-US" dirty="0"/>
              <a:t> à 1410 </a:t>
            </a:r>
            <a:r>
              <a:rPr lang="en-US" dirty="0" err="1"/>
              <a:t>degrés</a:t>
            </a:r>
            <a:r>
              <a:rPr lang="en-US" dirty="0"/>
              <a:t> pour </a:t>
            </a:r>
            <a:r>
              <a:rPr lang="en-US" dirty="0" err="1"/>
              <a:t>fondre</a:t>
            </a:r>
            <a:r>
              <a:rPr lang="en-US" dirty="0"/>
              <a:t>. De plus, le </a:t>
            </a:r>
            <a:r>
              <a:rPr lang="en-US" dirty="0" err="1"/>
              <a:t>recyclage</a:t>
            </a:r>
            <a:r>
              <a:rPr lang="en-US" dirty="0"/>
              <a:t> des </a:t>
            </a:r>
            <a:r>
              <a:rPr lang="en-US" dirty="0" err="1"/>
              <a:t>panneaux</a:t>
            </a:r>
            <a:r>
              <a:rPr lang="en-US" dirty="0"/>
              <a:t> </a:t>
            </a:r>
            <a:r>
              <a:rPr lang="en-US" dirty="0" err="1"/>
              <a:t>solaires</a:t>
            </a:r>
            <a:r>
              <a:rPr lang="en-US" dirty="0"/>
              <a:t> </a:t>
            </a:r>
            <a:r>
              <a:rPr lang="en-US" dirty="0" err="1"/>
              <a:t>libérent</a:t>
            </a:r>
            <a:r>
              <a:rPr lang="en-US" dirty="0"/>
              <a:t> de </a:t>
            </a:r>
            <a:r>
              <a:rPr lang="en-US" dirty="0" err="1"/>
              <a:t>l’acétate</a:t>
            </a:r>
            <a:r>
              <a:rPr lang="en-US" dirty="0"/>
              <a:t> </a:t>
            </a:r>
            <a:r>
              <a:rPr lang="en-US" dirty="0" err="1"/>
              <a:t>d’éthylène</a:t>
            </a:r>
            <a:r>
              <a:rPr lang="en-US" dirty="0"/>
              <a:t> </a:t>
            </a:r>
            <a:r>
              <a:rPr lang="en-US" dirty="0" err="1"/>
              <a:t>vinyle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matière </a:t>
            </a:r>
            <a:r>
              <a:rPr lang="en-US" dirty="0" err="1"/>
              <a:t>polluante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Enfin</a:t>
            </a:r>
            <a:r>
              <a:rPr lang="en-US" dirty="0"/>
              <a:t>, la </a:t>
            </a:r>
            <a:r>
              <a:rPr lang="en-US" dirty="0" err="1"/>
              <a:t>majorité</a:t>
            </a:r>
            <a:r>
              <a:rPr lang="en-US" dirty="0"/>
              <a:t> des </a:t>
            </a:r>
            <a:r>
              <a:rPr lang="en-US" dirty="0" err="1"/>
              <a:t>panneaux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fabriqués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Chine. Il faut </a:t>
            </a:r>
            <a:r>
              <a:rPr lang="en-US" dirty="0" err="1"/>
              <a:t>donc</a:t>
            </a:r>
            <a:r>
              <a:rPr lang="en-US" dirty="0"/>
              <a:t> les importer, 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augmente</a:t>
            </a:r>
            <a:r>
              <a:rPr lang="en-US" dirty="0"/>
              <a:t> </a:t>
            </a:r>
            <a:r>
              <a:rPr lang="en-US" dirty="0" err="1"/>
              <a:t>leur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carbone</a:t>
            </a:r>
            <a:r>
              <a:rPr lang="en-US" dirty="0"/>
              <a:t>.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5A6CDAD-6AB8-4CD1-980E-05E233C90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15300" y="2257187"/>
            <a:ext cx="3619500" cy="234362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902374A-D30B-4FB2-80A2-8B30D19F0833}"/>
              </a:ext>
            </a:extLst>
          </p:cNvPr>
          <p:cNvSpPr txBox="1"/>
          <p:nvPr/>
        </p:nvSpPr>
        <p:spPr>
          <a:xfrm>
            <a:off x="8115300" y="1924375"/>
            <a:ext cx="3619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Cout en CO2 par kWh de différente énergies</a:t>
            </a:r>
          </a:p>
        </p:txBody>
      </p:sp>
    </p:spTree>
    <p:extLst>
      <p:ext uri="{BB962C8B-B14F-4D97-AF65-F5344CB8AC3E}">
        <p14:creationId xmlns:p14="http://schemas.microsoft.com/office/powerpoint/2010/main" val="125865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06B7FC8-9C5A-4B07-99F6-3FF4F0500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0D096B9-E2A9-4907-8AA6-44183A98A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4">
                  <a:alpha val="52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DC8FFA-551D-4179-8098-F7020A6B3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9639" y="153692"/>
            <a:ext cx="4337877" cy="4038600"/>
          </a:xfrm>
          <a:prstGeom prst="rect">
            <a:avLst/>
          </a:prstGeom>
          <a:gradFill>
            <a:gsLst>
              <a:gs pos="8000">
                <a:schemeClr val="accent5">
                  <a:alpha val="56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704F97-5616-4BF4-973D-20EA0D7DB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1266" y="3580665"/>
            <a:ext cx="2516071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83D16B0-C2A0-40BB-B4B6-F629839EA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637644" y="1795692"/>
            <a:ext cx="4178958" cy="4178958"/>
          </a:xfrm>
          <a:prstGeom prst="ellipse">
            <a:avLst/>
          </a:prstGeom>
          <a:gradFill>
            <a:gsLst>
              <a:gs pos="37000">
                <a:schemeClr val="bg1">
                  <a:alpha val="0"/>
                </a:schemeClr>
              </a:gs>
              <a:gs pos="100000">
                <a:schemeClr val="accent6">
                  <a:alpha val="28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53C5BD-18E5-4160-9A17-08455345F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971" y="838537"/>
            <a:ext cx="3119718" cy="3150607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Allemagne et solaire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6812DD-D96A-4001-9B2A-DFFA8A1E2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64725" y="0"/>
            <a:ext cx="3133491" cy="4475520"/>
          </a:xfrm>
        </p:spPr>
        <p:txBody>
          <a:bodyPr vert="horz" lIns="0" tIns="0" rIns="0" bIns="0" rtlCol="0" anchor="ctr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Suite à accident </a:t>
            </a:r>
            <a:r>
              <a:rPr lang="en-US" sz="1200" dirty="0" err="1"/>
              <a:t>nucléaire</a:t>
            </a:r>
            <a:r>
              <a:rPr lang="en-US" sz="1200" dirty="0"/>
              <a:t> de Fukushima </a:t>
            </a:r>
            <a:r>
              <a:rPr lang="en-US" sz="1200" dirty="0" err="1"/>
              <a:t>en</a:t>
            </a:r>
            <a:r>
              <a:rPr lang="en-US" sz="1200" dirty="0"/>
              <a:t> 2011, </a:t>
            </a:r>
            <a:r>
              <a:rPr lang="en-US" sz="1200" dirty="0" err="1"/>
              <a:t>l’Allemagne</a:t>
            </a:r>
            <a:r>
              <a:rPr lang="en-US" sz="1200" dirty="0"/>
              <a:t> a </a:t>
            </a:r>
            <a:r>
              <a:rPr lang="en-US" sz="1200" dirty="0" err="1"/>
              <a:t>décidé</a:t>
            </a:r>
            <a:r>
              <a:rPr lang="en-US" sz="1200" dirty="0"/>
              <a:t> </a:t>
            </a:r>
            <a:r>
              <a:rPr lang="en-US" sz="1200" dirty="0" err="1"/>
              <a:t>d’accélérer</a:t>
            </a:r>
            <a:r>
              <a:rPr lang="en-US" sz="1200" dirty="0"/>
              <a:t> </a:t>
            </a:r>
            <a:r>
              <a:rPr lang="en-US" sz="1200" dirty="0" err="1"/>
              <a:t>sa</a:t>
            </a:r>
            <a:r>
              <a:rPr lang="en-US" sz="1200" dirty="0"/>
              <a:t> sortie du </a:t>
            </a:r>
            <a:r>
              <a:rPr lang="en-US" sz="1200" dirty="0" err="1"/>
              <a:t>nucléaire</a:t>
            </a:r>
            <a:r>
              <a:rPr lang="en-US" sz="1200" dirty="0"/>
              <a:t> grâce aux </a:t>
            </a:r>
            <a:r>
              <a:rPr lang="en-US" sz="1200" dirty="0" err="1"/>
              <a:t>énergies</a:t>
            </a:r>
            <a:r>
              <a:rPr lang="en-US" sz="1200" dirty="0"/>
              <a:t> </a:t>
            </a:r>
            <a:r>
              <a:rPr lang="en-US" sz="1200" dirty="0" err="1"/>
              <a:t>solaires</a:t>
            </a:r>
            <a:r>
              <a:rPr lang="en-US" sz="1200" dirty="0"/>
              <a:t> et </a:t>
            </a:r>
            <a:r>
              <a:rPr lang="en-US" sz="1200" dirty="0" err="1"/>
              <a:t>éoliennes</a:t>
            </a:r>
            <a:r>
              <a:rPr lang="en-US" sz="1200" dirty="0"/>
              <a:t>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Celle-ci </a:t>
            </a:r>
            <a:r>
              <a:rPr lang="en-US" sz="1200" dirty="0" err="1"/>
              <a:t>construisit</a:t>
            </a:r>
            <a:r>
              <a:rPr lang="en-US" sz="1200" dirty="0"/>
              <a:t> </a:t>
            </a:r>
            <a:r>
              <a:rPr lang="en-US" sz="1200" dirty="0" err="1"/>
              <a:t>donc</a:t>
            </a:r>
            <a:r>
              <a:rPr lang="en-US" sz="1200" dirty="0"/>
              <a:t> 20 millions de km² de </a:t>
            </a:r>
            <a:r>
              <a:rPr lang="en-US" sz="1200" dirty="0" err="1"/>
              <a:t>panneaux</a:t>
            </a:r>
            <a:r>
              <a:rPr lang="en-US" sz="1200" dirty="0"/>
              <a:t> </a:t>
            </a:r>
            <a:r>
              <a:rPr lang="en-US" sz="1200" dirty="0" err="1"/>
              <a:t>solaires</a:t>
            </a:r>
            <a:r>
              <a:rPr lang="en-US" sz="1200" dirty="0"/>
              <a:t>, </a:t>
            </a:r>
            <a:r>
              <a:rPr lang="en-US" sz="1200" dirty="0" err="1"/>
              <a:t>l’équivalent</a:t>
            </a:r>
            <a:r>
              <a:rPr lang="en-US" sz="1200" dirty="0"/>
              <a:t> 1/5 de Paris.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Cependant</a:t>
            </a:r>
            <a:r>
              <a:rPr lang="en-US" sz="1200" dirty="0"/>
              <a:t>, à cause de intermittence de </a:t>
            </a:r>
            <a:r>
              <a:rPr lang="en-US" sz="1200" dirty="0" err="1"/>
              <a:t>cette</a:t>
            </a:r>
            <a:r>
              <a:rPr lang="en-US" sz="1200" dirty="0"/>
              <a:t> source </a:t>
            </a:r>
            <a:r>
              <a:rPr lang="en-US" sz="1200" dirty="0" err="1"/>
              <a:t>d’énergie</a:t>
            </a:r>
            <a:r>
              <a:rPr lang="en-US" sz="1200" dirty="0"/>
              <a:t>, et de la situation </a:t>
            </a:r>
            <a:r>
              <a:rPr lang="en-US" sz="1200" dirty="0" err="1"/>
              <a:t>géographique</a:t>
            </a:r>
            <a:r>
              <a:rPr lang="en-US" sz="1200" dirty="0"/>
              <a:t> de </a:t>
            </a:r>
            <a:r>
              <a:rPr lang="en-US" sz="1200" dirty="0" err="1"/>
              <a:t>l’Allemagne</a:t>
            </a:r>
            <a:r>
              <a:rPr lang="en-US" sz="1200" dirty="0"/>
              <a:t>, </a:t>
            </a:r>
            <a:r>
              <a:rPr lang="en-US" sz="1200" dirty="0" err="1"/>
              <a:t>cette</a:t>
            </a:r>
            <a:r>
              <a:rPr lang="en-US" sz="1200" dirty="0"/>
              <a:t> transition </a:t>
            </a:r>
            <a:r>
              <a:rPr lang="en-US" sz="1200" dirty="0" err="1"/>
              <a:t>fut</a:t>
            </a:r>
            <a:r>
              <a:rPr lang="en-US" sz="1200" dirty="0"/>
              <a:t> </a:t>
            </a:r>
            <a:r>
              <a:rPr lang="en-US" sz="1200" dirty="0" err="1"/>
              <a:t>une</a:t>
            </a:r>
            <a:r>
              <a:rPr lang="en-US" sz="1200" dirty="0"/>
              <a:t> catastrophe.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effet</a:t>
            </a:r>
            <a:r>
              <a:rPr lang="en-US" sz="1200" dirty="0"/>
              <a:t>, </a:t>
            </a:r>
            <a:r>
              <a:rPr lang="en-US" sz="1200" dirty="0" err="1"/>
              <a:t>en</a:t>
            </a:r>
            <a:r>
              <a:rPr lang="en-US" sz="1200" dirty="0"/>
              <a:t> 2020, 162 224 </a:t>
            </a:r>
            <a:r>
              <a:rPr lang="en-US" sz="1200" dirty="0" err="1"/>
              <a:t>coupures</a:t>
            </a:r>
            <a:r>
              <a:rPr lang="en-US" sz="1200" dirty="0"/>
              <a:t> </a:t>
            </a:r>
            <a:r>
              <a:rPr lang="en-US" sz="1200" dirty="0" err="1"/>
              <a:t>d’électricité</a:t>
            </a:r>
            <a:r>
              <a:rPr lang="en-US" sz="1200" dirty="0"/>
              <a:t> </a:t>
            </a:r>
            <a:r>
              <a:rPr lang="en-US" sz="1200" dirty="0" err="1"/>
              <a:t>eurent</a:t>
            </a:r>
            <a:r>
              <a:rPr lang="en-US" sz="1200" dirty="0"/>
              <a:t> lieu dans le pays. De plus, </a:t>
            </a:r>
            <a:r>
              <a:rPr lang="en-US" sz="1200" dirty="0" err="1"/>
              <a:t>l’électricité</a:t>
            </a:r>
            <a:r>
              <a:rPr lang="en-US" sz="1200" dirty="0"/>
              <a:t> </a:t>
            </a:r>
            <a:r>
              <a:rPr lang="en-US" sz="1200" dirty="0" err="1"/>
              <a:t>coûte</a:t>
            </a:r>
            <a:r>
              <a:rPr lang="en-US" sz="1200" dirty="0"/>
              <a:t> 2 </a:t>
            </a:r>
            <a:r>
              <a:rPr lang="en-US" sz="1200" dirty="0" err="1"/>
              <a:t>fois</a:t>
            </a:r>
            <a:r>
              <a:rPr lang="en-US" sz="1200" dirty="0"/>
              <a:t> plus </a:t>
            </a:r>
            <a:r>
              <a:rPr lang="en-US" sz="1200" dirty="0" err="1"/>
              <a:t>cher</a:t>
            </a:r>
            <a:r>
              <a:rPr lang="en-US" sz="1200" dirty="0"/>
              <a:t> </a:t>
            </a:r>
            <a:r>
              <a:rPr lang="en-US" sz="1200" dirty="0" err="1"/>
              <a:t>qu’en</a:t>
            </a:r>
            <a:r>
              <a:rPr lang="en-US" sz="1200" dirty="0"/>
              <a:t> France, </a:t>
            </a:r>
            <a:r>
              <a:rPr lang="en-US" sz="1200" dirty="0" err="1"/>
              <a:t>ce</a:t>
            </a:r>
            <a:r>
              <a:rPr lang="en-US" sz="1200" dirty="0"/>
              <a:t> qui </a:t>
            </a:r>
            <a:r>
              <a:rPr lang="en-US" sz="1200" dirty="0" err="1"/>
              <a:t>paralysa</a:t>
            </a:r>
            <a:r>
              <a:rPr lang="en-US" sz="1200" dirty="0"/>
              <a:t> </a:t>
            </a:r>
            <a:r>
              <a:rPr lang="en-US" sz="1200" dirty="0" err="1"/>
              <a:t>l’économie</a:t>
            </a:r>
            <a:r>
              <a:rPr lang="en-US" sz="1200" dirty="0"/>
              <a:t>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Pour pallier au </a:t>
            </a:r>
            <a:r>
              <a:rPr lang="en-US" sz="1200" dirty="0" err="1"/>
              <a:t>problème</a:t>
            </a:r>
            <a:r>
              <a:rPr lang="en-US" sz="1200" dirty="0"/>
              <a:t> de intermittence, </a:t>
            </a:r>
            <a:r>
              <a:rPr lang="en-US" sz="1200" dirty="0" err="1"/>
              <a:t>l’Allemagne</a:t>
            </a:r>
            <a:r>
              <a:rPr lang="en-US" sz="1200" dirty="0"/>
              <a:t> </a:t>
            </a:r>
            <a:r>
              <a:rPr lang="en-US" sz="1200" dirty="0" err="1"/>
              <a:t>dut</a:t>
            </a:r>
            <a:r>
              <a:rPr lang="en-US" sz="1200" dirty="0"/>
              <a:t> </a:t>
            </a:r>
            <a:r>
              <a:rPr lang="en-US" sz="1200" dirty="0" err="1"/>
              <a:t>utiliser</a:t>
            </a:r>
            <a:r>
              <a:rPr lang="en-US" sz="1200" dirty="0"/>
              <a:t> </a:t>
            </a:r>
            <a:r>
              <a:rPr lang="en-US" sz="1200" dirty="0" err="1"/>
              <a:t>d’autres</a:t>
            </a:r>
            <a:r>
              <a:rPr lang="en-US" sz="1200" dirty="0"/>
              <a:t> source </a:t>
            </a:r>
            <a:r>
              <a:rPr lang="en-US" sz="1200" dirty="0" err="1"/>
              <a:t>d’énergies</a:t>
            </a:r>
            <a:r>
              <a:rPr lang="en-US" sz="1200" dirty="0"/>
              <a:t> plus stables, </a:t>
            </a:r>
            <a:r>
              <a:rPr lang="en-US" sz="1200" dirty="0" err="1"/>
              <a:t>comme</a:t>
            </a:r>
            <a:r>
              <a:rPr lang="en-US" sz="1200" dirty="0"/>
              <a:t> le </a:t>
            </a:r>
            <a:r>
              <a:rPr lang="en-US" sz="1200" dirty="0" err="1"/>
              <a:t>charbon</a:t>
            </a:r>
            <a:r>
              <a:rPr lang="en-US" sz="1200" dirty="0"/>
              <a:t> et le </a:t>
            </a:r>
            <a:r>
              <a:rPr lang="en-US" sz="1200" dirty="0" err="1"/>
              <a:t>gaz</a:t>
            </a:r>
            <a:r>
              <a:rPr lang="en-US" sz="1200" dirty="0"/>
              <a:t>, </a:t>
            </a:r>
            <a:r>
              <a:rPr lang="en-US" sz="1200" dirty="0" err="1"/>
              <a:t>en</a:t>
            </a:r>
            <a:r>
              <a:rPr lang="en-US" sz="1200" dirty="0"/>
              <a:t> </a:t>
            </a:r>
            <a:r>
              <a:rPr lang="en-US" sz="1200" dirty="0" err="1"/>
              <a:t>faisant</a:t>
            </a:r>
            <a:r>
              <a:rPr lang="en-US" sz="1200" dirty="0"/>
              <a:t> le plus </a:t>
            </a:r>
            <a:r>
              <a:rPr lang="en-US" sz="1200" dirty="0" err="1"/>
              <a:t>gros</a:t>
            </a:r>
            <a:r>
              <a:rPr lang="en-US" sz="1200" dirty="0"/>
              <a:t> </a:t>
            </a:r>
            <a:r>
              <a:rPr lang="en-US" sz="1200" dirty="0" err="1"/>
              <a:t>pollueur</a:t>
            </a:r>
            <a:r>
              <a:rPr lang="en-US" sz="1200" dirty="0"/>
              <a:t> de </a:t>
            </a:r>
            <a:r>
              <a:rPr lang="en-US" sz="1200" dirty="0" err="1"/>
              <a:t>l’UE</a:t>
            </a:r>
            <a:r>
              <a:rPr lang="en-US" sz="1200" dirty="0"/>
              <a:t> et le 7ème plus </a:t>
            </a:r>
            <a:r>
              <a:rPr lang="en-US" sz="1200" dirty="0" err="1"/>
              <a:t>gros</a:t>
            </a:r>
            <a:r>
              <a:rPr lang="en-US" sz="1200" dirty="0"/>
              <a:t> </a:t>
            </a:r>
            <a:r>
              <a:rPr lang="en-US" sz="1200" dirty="0" err="1"/>
              <a:t>pollueur</a:t>
            </a:r>
            <a:r>
              <a:rPr lang="en-US" sz="1200" dirty="0"/>
              <a:t> </a:t>
            </a:r>
            <a:r>
              <a:rPr lang="en-US" sz="1200" dirty="0" err="1"/>
              <a:t>mondial</a:t>
            </a:r>
            <a:r>
              <a:rPr lang="en-US" sz="1200" dirty="0"/>
              <a:t> avec 865,6 millions de </a:t>
            </a:r>
            <a:r>
              <a:rPr lang="en-US" sz="1200" dirty="0" err="1"/>
              <a:t>tonnes</a:t>
            </a:r>
            <a:r>
              <a:rPr lang="en-US" sz="1200" dirty="0"/>
              <a:t> de CO2 </a:t>
            </a:r>
            <a:r>
              <a:rPr lang="en-US" sz="1200" dirty="0" err="1"/>
              <a:t>libéré</a:t>
            </a:r>
            <a:r>
              <a:rPr lang="en-US" sz="1200" dirty="0"/>
              <a:t> dans </a:t>
            </a:r>
            <a:r>
              <a:rPr lang="en-US" sz="1200" dirty="0" err="1"/>
              <a:t>l’atmosphère</a:t>
            </a:r>
            <a:endParaRPr lang="en-US" sz="12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C584FE7-46BA-436E-8FE2-D3AB7349D7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54" b="1"/>
          <a:stretch/>
        </p:blipFill>
        <p:spPr>
          <a:xfrm>
            <a:off x="8115301" y="607648"/>
            <a:ext cx="4076699" cy="3260224"/>
          </a:xfrm>
          <a:prstGeom prst="rect">
            <a:avLst/>
          </a:prstGeom>
        </p:spPr>
      </p:pic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D2E16D96-4A20-436B-AF0F-0DF09CF16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4232" t="1494" r="218" b="-1494"/>
          <a:stretch/>
        </p:blipFill>
        <p:spPr>
          <a:xfrm>
            <a:off x="4037837" y="4515865"/>
            <a:ext cx="8153398" cy="23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38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21FCE60-ECDB-49B1-A5CA-E834A33F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1" y="3587283"/>
            <a:ext cx="250197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4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4489" y="1757117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D29BB8-E2AD-4795-81BD-033F7C785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80" y="586855"/>
            <a:ext cx="3131093" cy="3507474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2200" dirty="0">
                <a:solidFill>
                  <a:schemeClr val="bg1"/>
                </a:solidFill>
              </a:rPr>
              <a:t>Amelioration future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CA0251-7FF5-4A81-A9DF-ABED34C80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37454" y="-6395"/>
            <a:ext cx="8153781" cy="3688004"/>
          </a:xfrm>
        </p:spPr>
        <p:txBody>
          <a:bodyPr vert="horz" lIns="0" tIns="0" rIns="0" bIns="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 cause de la </a:t>
            </a:r>
            <a:r>
              <a:rPr lang="en-US" sz="1800" dirty="0" err="1"/>
              <a:t>limite</a:t>
            </a:r>
            <a:r>
              <a:rPr lang="en-US" sz="1800" dirty="0"/>
              <a:t> de Shockley-</a:t>
            </a:r>
            <a:r>
              <a:rPr lang="en-US" sz="1800" dirty="0" err="1"/>
              <a:t>Queisser</a:t>
            </a:r>
            <a:r>
              <a:rPr lang="en-US" sz="1800" dirty="0"/>
              <a:t>, les </a:t>
            </a:r>
            <a:r>
              <a:rPr lang="en-US" sz="1800" dirty="0" err="1"/>
              <a:t>principales</a:t>
            </a:r>
            <a:r>
              <a:rPr lang="en-US" sz="1800" dirty="0"/>
              <a:t> </a:t>
            </a:r>
            <a:r>
              <a:rPr lang="en-US" sz="1800" dirty="0" err="1"/>
              <a:t>améliorations</a:t>
            </a:r>
            <a:r>
              <a:rPr lang="en-US" sz="1800" dirty="0"/>
              <a:t> que nous </a:t>
            </a:r>
            <a:r>
              <a:rPr lang="en-US" sz="1800" dirty="0" err="1"/>
              <a:t>pourront</a:t>
            </a:r>
            <a:r>
              <a:rPr lang="en-US" sz="1800" dirty="0"/>
              <a:t> </a:t>
            </a:r>
            <a:r>
              <a:rPr lang="en-US" sz="1800" dirty="0" err="1"/>
              <a:t>apporter</a:t>
            </a:r>
            <a:r>
              <a:rPr lang="en-US" sz="1800" dirty="0"/>
              <a:t> au </a:t>
            </a:r>
            <a:r>
              <a:rPr lang="en-US" sz="1800" dirty="0" err="1"/>
              <a:t>panneau</a:t>
            </a:r>
            <a:r>
              <a:rPr lang="en-US" sz="1800" dirty="0"/>
              <a:t> </a:t>
            </a:r>
            <a:r>
              <a:rPr lang="en-US" sz="1800" dirty="0" err="1"/>
              <a:t>photovoltaïque</a:t>
            </a:r>
            <a:r>
              <a:rPr lang="en-US" sz="1800" dirty="0"/>
              <a:t> </a:t>
            </a:r>
            <a:r>
              <a:rPr lang="en-US" sz="1800" dirty="0" err="1"/>
              <a:t>sont</a:t>
            </a:r>
            <a:r>
              <a:rPr lang="en-US" sz="1800" dirty="0"/>
              <a:t> à faire </a:t>
            </a:r>
            <a:r>
              <a:rPr lang="en-US" sz="1800" dirty="0" err="1"/>
              <a:t>autour</a:t>
            </a:r>
            <a:r>
              <a:rPr lang="en-US" sz="1800" dirty="0"/>
              <a:t>, </a:t>
            </a:r>
            <a:r>
              <a:rPr lang="en-US" sz="1800" dirty="0" err="1"/>
              <a:t>en</a:t>
            </a:r>
            <a:r>
              <a:rPr lang="en-US" sz="1800" dirty="0"/>
              <a:t> </a:t>
            </a:r>
            <a:r>
              <a:rPr lang="en-US" sz="1800" dirty="0" err="1"/>
              <a:t>améliorant</a:t>
            </a:r>
            <a:r>
              <a:rPr lang="en-US" sz="1800" dirty="0"/>
              <a:t> par </a:t>
            </a:r>
            <a:r>
              <a:rPr lang="en-US" sz="1800" dirty="0" err="1"/>
              <a:t>exemple</a:t>
            </a:r>
            <a:r>
              <a:rPr lang="en-US" sz="1800" dirty="0"/>
              <a:t> les batteries qui </a:t>
            </a:r>
            <a:r>
              <a:rPr lang="en-US" sz="1800" dirty="0" err="1"/>
              <a:t>permettent</a:t>
            </a:r>
            <a:r>
              <a:rPr lang="en-US" sz="1800" dirty="0"/>
              <a:t> de stocker le surplus </a:t>
            </a:r>
            <a:r>
              <a:rPr lang="en-US" sz="1800" dirty="0" err="1"/>
              <a:t>d’électricité</a:t>
            </a:r>
            <a:r>
              <a:rPr lang="en-US" sz="1800" dirty="0"/>
              <a:t> et de pallier au </a:t>
            </a:r>
            <a:r>
              <a:rPr lang="en-US" sz="1800" dirty="0" err="1"/>
              <a:t>problème</a:t>
            </a:r>
            <a:r>
              <a:rPr lang="en-US" sz="1800" dirty="0"/>
              <a:t> de intermittence.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Une </a:t>
            </a:r>
            <a:r>
              <a:rPr lang="en-US" sz="1800" dirty="0" err="1"/>
              <a:t>autre</a:t>
            </a:r>
            <a:r>
              <a:rPr lang="en-US" sz="1800" dirty="0"/>
              <a:t> </a:t>
            </a:r>
            <a:r>
              <a:rPr lang="en-US" sz="1800" dirty="0" err="1"/>
              <a:t>piste</a:t>
            </a:r>
            <a:r>
              <a:rPr lang="en-US" sz="1800" dirty="0"/>
              <a:t> </a:t>
            </a:r>
            <a:r>
              <a:rPr lang="en-US" sz="1800" dirty="0" err="1"/>
              <a:t>d’amélioration</a:t>
            </a:r>
            <a:r>
              <a:rPr lang="en-US" sz="1800" dirty="0"/>
              <a:t> </a:t>
            </a:r>
            <a:r>
              <a:rPr lang="en-US" sz="1800" dirty="0" err="1"/>
              <a:t>serait</a:t>
            </a:r>
            <a:r>
              <a:rPr lang="en-US" sz="1800" dirty="0"/>
              <a:t> </a:t>
            </a:r>
            <a:r>
              <a:rPr lang="en-US" sz="1800" dirty="0" err="1"/>
              <a:t>d’utiliser</a:t>
            </a:r>
            <a:r>
              <a:rPr lang="en-US" sz="1800" dirty="0"/>
              <a:t> </a:t>
            </a:r>
            <a:r>
              <a:rPr lang="en-US" sz="1800" dirty="0" err="1"/>
              <a:t>l’électricité</a:t>
            </a:r>
            <a:r>
              <a:rPr lang="en-US" sz="1800" dirty="0"/>
              <a:t> </a:t>
            </a:r>
            <a:r>
              <a:rPr lang="en-US" sz="1800" dirty="0" err="1"/>
              <a:t>produite</a:t>
            </a:r>
            <a:r>
              <a:rPr lang="en-US" sz="1800" dirty="0"/>
              <a:t> pour faire du </a:t>
            </a:r>
            <a:r>
              <a:rPr lang="en-US" sz="1800" dirty="0" err="1"/>
              <a:t>pompage</a:t>
            </a:r>
            <a:r>
              <a:rPr lang="en-US" sz="1800" dirty="0"/>
              <a:t> </a:t>
            </a:r>
            <a:r>
              <a:rPr lang="en-US" sz="1800" dirty="0" err="1"/>
              <a:t>turbinage</a:t>
            </a:r>
            <a:r>
              <a:rPr lang="en-US" sz="1800" dirty="0"/>
              <a:t>, sur le </a:t>
            </a:r>
            <a:r>
              <a:rPr lang="en-US" sz="1800" dirty="0" err="1"/>
              <a:t>même</a:t>
            </a:r>
            <a:r>
              <a:rPr lang="en-US" sz="1800" dirty="0"/>
              <a:t> </a:t>
            </a:r>
            <a:r>
              <a:rPr lang="en-US" sz="1800" dirty="0" err="1"/>
              <a:t>principe</a:t>
            </a:r>
            <a:r>
              <a:rPr lang="en-US" sz="1800" dirty="0"/>
              <a:t> </a:t>
            </a:r>
            <a:r>
              <a:rPr lang="en-US" sz="1800" dirty="0" err="1"/>
              <a:t>qu’un</a:t>
            </a:r>
            <a:r>
              <a:rPr lang="en-US" sz="1800" dirty="0"/>
              <a:t> barrage.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 err="1"/>
              <a:t>Mais</a:t>
            </a:r>
            <a:r>
              <a:rPr lang="en-US" sz="1800" dirty="0"/>
              <a:t> </a:t>
            </a:r>
            <a:r>
              <a:rPr lang="en-US" sz="1800" dirty="0" err="1"/>
              <a:t>l’une</a:t>
            </a:r>
            <a:r>
              <a:rPr lang="en-US" sz="1800" dirty="0"/>
              <a:t> des </a:t>
            </a:r>
            <a:r>
              <a:rPr lang="en-US" sz="1800" dirty="0" err="1"/>
              <a:t>pistes</a:t>
            </a:r>
            <a:r>
              <a:rPr lang="en-US" sz="1800" dirty="0"/>
              <a:t> les plus </a:t>
            </a:r>
            <a:r>
              <a:rPr lang="en-US" sz="1800" dirty="0" err="1"/>
              <a:t>prometteuse</a:t>
            </a:r>
            <a:r>
              <a:rPr lang="en-US" sz="1800" dirty="0"/>
              <a:t> </a:t>
            </a:r>
            <a:r>
              <a:rPr lang="en-US" sz="1800" dirty="0" err="1"/>
              <a:t>serait</a:t>
            </a:r>
            <a:r>
              <a:rPr lang="en-US" sz="1800" dirty="0"/>
              <a:t> </a:t>
            </a:r>
            <a:r>
              <a:rPr lang="en-US" sz="1800" dirty="0" err="1"/>
              <a:t>d’utiliser</a:t>
            </a:r>
            <a:r>
              <a:rPr lang="en-US" sz="1800" dirty="0"/>
              <a:t> </a:t>
            </a:r>
            <a:r>
              <a:rPr lang="en-US" sz="1800" dirty="0" err="1"/>
              <a:t>l’électricité</a:t>
            </a:r>
            <a:r>
              <a:rPr lang="en-US" sz="1800" dirty="0"/>
              <a:t> pour </a:t>
            </a:r>
            <a:r>
              <a:rPr lang="en-US" sz="1800" dirty="0" err="1"/>
              <a:t>fabriquer</a:t>
            </a:r>
            <a:r>
              <a:rPr lang="en-US" sz="1800" dirty="0"/>
              <a:t> de </a:t>
            </a:r>
            <a:r>
              <a:rPr lang="en-US" sz="1800" dirty="0" err="1"/>
              <a:t>l’hydrogène</a:t>
            </a:r>
            <a:r>
              <a:rPr lang="en-US" sz="1800" dirty="0"/>
              <a:t>. </a:t>
            </a:r>
            <a:r>
              <a:rPr lang="en-US" sz="1800" dirty="0" err="1"/>
              <a:t>Cependant</a:t>
            </a:r>
            <a:r>
              <a:rPr lang="en-US" sz="1800" dirty="0"/>
              <a:t>, </a:t>
            </a:r>
            <a:r>
              <a:rPr lang="en-US" sz="1800" dirty="0" err="1"/>
              <a:t>l’hydrogène</a:t>
            </a:r>
            <a:r>
              <a:rPr lang="en-US" sz="1800" dirty="0"/>
              <a:t> </a:t>
            </a:r>
            <a:r>
              <a:rPr lang="en-US" sz="1800" dirty="0" err="1"/>
              <a:t>est</a:t>
            </a:r>
            <a:r>
              <a:rPr lang="en-US" sz="1800" dirty="0"/>
              <a:t> le plus petit </a:t>
            </a:r>
            <a:r>
              <a:rPr lang="en-US" sz="1800" dirty="0" err="1"/>
              <a:t>élément</a:t>
            </a:r>
            <a:r>
              <a:rPr lang="en-US" sz="1800" dirty="0"/>
              <a:t> de </a:t>
            </a:r>
            <a:r>
              <a:rPr lang="en-US" sz="1800" dirty="0" err="1"/>
              <a:t>l’univers</a:t>
            </a:r>
            <a:r>
              <a:rPr lang="en-US" sz="1800" dirty="0"/>
              <a:t>, et il </a:t>
            </a:r>
            <a:r>
              <a:rPr lang="en-US" sz="1800" dirty="0" err="1"/>
              <a:t>est</a:t>
            </a:r>
            <a:r>
              <a:rPr lang="en-US" sz="1800" dirty="0"/>
              <a:t> </a:t>
            </a:r>
            <a:r>
              <a:rPr lang="en-US" sz="1800" dirty="0" err="1"/>
              <a:t>donc</a:t>
            </a:r>
            <a:r>
              <a:rPr lang="en-US" sz="1800" dirty="0"/>
              <a:t> très difficile à stocker.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54DF3D2-F2B2-40C4-82D1-945A3C01E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3913" y="3264292"/>
            <a:ext cx="6278642" cy="354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28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E3AE8C3-8F65-40F4-BABE-E70F3830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409317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>
                  <a:alpha val="78000"/>
                </a:schemeClr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FC4764-B8D5-4F87-95DB-3125B2D12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59728" y="59346"/>
            <a:ext cx="4156527" cy="4037836"/>
          </a:xfrm>
          <a:prstGeom prst="rect">
            <a:avLst/>
          </a:prstGeom>
          <a:gradFill>
            <a:gsLst>
              <a:gs pos="0">
                <a:schemeClr val="accent5">
                  <a:alpha val="47000"/>
                </a:schemeClr>
              </a:gs>
              <a:gs pos="100000">
                <a:schemeClr val="accent4">
                  <a:alpha val="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4C1654F-94F5-497E-8ECF-F2A7E84D6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768313" y="3587284"/>
            <a:ext cx="2501977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7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65254" y="969296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58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C3D9FE-5B34-46DC-90D2-A17CC852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18" y="586855"/>
            <a:ext cx="3258570" cy="3387497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ouverture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7FD282-0F81-4BE7-BA3E-14D6DB559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1727" y="833535"/>
            <a:ext cx="3025303" cy="5361991"/>
          </a:xfrm>
        </p:spPr>
        <p:txBody>
          <a:bodyPr vert="horz" lIns="0" tIns="0" rIns="0" bIns="0" rtlCol="0" anchor="ctr">
            <a:normAutofit fontScale="850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Malgré </a:t>
            </a:r>
            <a:r>
              <a:rPr lang="en-US" dirty="0" err="1"/>
              <a:t>plusieurs</a:t>
            </a:r>
            <a:r>
              <a:rPr lang="en-US" dirty="0"/>
              <a:t> aspects </a:t>
            </a:r>
            <a:r>
              <a:rPr lang="en-US" dirty="0" err="1"/>
              <a:t>négatifs</a:t>
            </a:r>
            <a:r>
              <a:rPr lang="en-US" dirty="0"/>
              <a:t>, le </a:t>
            </a:r>
            <a:r>
              <a:rPr lang="en-US" dirty="0" err="1"/>
              <a:t>solaire</a:t>
            </a:r>
            <a:r>
              <a:rPr lang="en-US" dirty="0"/>
              <a:t> </a:t>
            </a:r>
            <a:r>
              <a:rPr lang="en-US" dirty="0" err="1"/>
              <a:t>n’en</a:t>
            </a:r>
            <a:r>
              <a:rPr lang="en-US" dirty="0"/>
              <a:t> </a:t>
            </a:r>
            <a:r>
              <a:rPr lang="en-US" dirty="0" err="1"/>
              <a:t>reste</a:t>
            </a:r>
            <a:r>
              <a:rPr lang="en-US" dirty="0"/>
              <a:t> pas </a:t>
            </a:r>
            <a:r>
              <a:rPr lang="en-US" dirty="0" err="1"/>
              <a:t>moins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énergie</a:t>
            </a:r>
            <a:r>
              <a:rPr lang="en-US" dirty="0"/>
              <a:t> sur </a:t>
            </a:r>
            <a:r>
              <a:rPr lang="en-US" dirty="0" err="1"/>
              <a:t>laquelle</a:t>
            </a:r>
            <a:r>
              <a:rPr lang="en-US" dirty="0"/>
              <a:t> </a:t>
            </a:r>
            <a:r>
              <a:rPr lang="en-US" dirty="0" err="1"/>
              <a:t>l’homme</a:t>
            </a:r>
            <a:r>
              <a:rPr lang="en-US" dirty="0"/>
              <a:t> </a:t>
            </a:r>
            <a:r>
              <a:rPr lang="en-US" dirty="0" err="1"/>
              <a:t>pourra</a:t>
            </a:r>
            <a:r>
              <a:rPr lang="en-US" dirty="0"/>
              <a:t> </a:t>
            </a:r>
            <a:r>
              <a:rPr lang="en-US" dirty="0" err="1"/>
              <a:t>s’appuyer</a:t>
            </a:r>
            <a:r>
              <a:rPr lang="en-US" dirty="0"/>
              <a:t> dans la </a:t>
            </a:r>
            <a:r>
              <a:rPr lang="en-US" dirty="0" err="1"/>
              <a:t>lutte</a:t>
            </a:r>
            <a:r>
              <a:rPr lang="en-US" dirty="0"/>
              <a:t> </a:t>
            </a:r>
            <a:r>
              <a:rPr lang="en-US" dirty="0" err="1"/>
              <a:t>contre</a:t>
            </a:r>
            <a:r>
              <a:rPr lang="en-US" dirty="0"/>
              <a:t> le </a:t>
            </a:r>
            <a:r>
              <a:rPr lang="en-US" dirty="0" err="1"/>
              <a:t>changement</a:t>
            </a:r>
            <a:r>
              <a:rPr lang="en-US" dirty="0"/>
              <a:t> </a:t>
            </a:r>
            <a:r>
              <a:rPr lang="en-US" dirty="0" err="1"/>
              <a:t>climatique</a:t>
            </a:r>
            <a:r>
              <a:rPr lang="en-US" dirty="0"/>
              <a:t>.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effet</a:t>
            </a:r>
            <a:r>
              <a:rPr lang="en-US" dirty="0"/>
              <a:t>, </a:t>
            </a:r>
            <a:r>
              <a:rPr lang="en-US" dirty="0" err="1"/>
              <a:t>l’une</a:t>
            </a:r>
            <a:r>
              <a:rPr lang="en-US" dirty="0"/>
              <a:t> des </a:t>
            </a:r>
            <a:r>
              <a:rPr lang="en-US" dirty="0" err="1"/>
              <a:t>banlieux</a:t>
            </a:r>
            <a:r>
              <a:rPr lang="en-US" dirty="0"/>
              <a:t> </a:t>
            </a:r>
            <a:r>
              <a:rPr lang="en-US" dirty="0" err="1"/>
              <a:t>d’Ota</a:t>
            </a:r>
            <a:r>
              <a:rPr lang="en-US" dirty="0"/>
              <a:t>, au </a:t>
            </a:r>
            <a:r>
              <a:rPr lang="en-US" dirty="0" err="1"/>
              <a:t>Japon</a:t>
            </a:r>
            <a:r>
              <a:rPr lang="en-US" dirty="0"/>
              <a:t>, 553 foyers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alimentés</a:t>
            </a:r>
            <a:r>
              <a:rPr lang="en-US" dirty="0"/>
              <a:t> </a:t>
            </a:r>
            <a:r>
              <a:rPr lang="en-US" dirty="0" err="1"/>
              <a:t>uniquement</a:t>
            </a:r>
            <a:r>
              <a:rPr lang="en-US" dirty="0"/>
              <a:t> grâce à des </a:t>
            </a:r>
            <a:r>
              <a:rPr lang="en-US" dirty="0" err="1"/>
              <a:t>panneaux</a:t>
            </a:r>
            <a:r>
              <a:rPr lang="en-US" dirty="0"/>
              <a:t> </a:t>
            </a:r>
            <a:r>
              <a:rPr lang="en-US" dirty="0" err="1"/>
              <a:t>photovoltaïques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/>
              <a:t>La </a:t>
            </a:r>
            <a:r>
              <a:rPr lang="en-US" dirty="0" err="1"/>
              <a:t>ville</a:t>
            </a:r>
            <a:r>
              <a:rPr lang="en-US" dirty="0"/>
              <a:t> de Fujisawa, </a:t>
            </a:r>
            <a:r>
              <a:rPr lang="en-US" dirty="0" err="1"/>
              <a:t>toujours</a:t>
            </a:r>
            <a:r>
              <a:rPr lang="en-US" dirty="0"/>
              <a:t> au </a:t>
            </a:r>
            <a:r>
              <a:rPr lang="en-US" dirty="0" err="1"/>
              <a:t>Japon</a:t>
            </a:r>
            <a:r>
              <a:rPr lang="en-US" dirty="0"/>
              <a:t>, </a:t>
            </a:r>
            <a:r>
              <a:rPr lang="en-US" dirty="0" err="1"/>
              <a:t>prévoit</a:t>
            </a:r>
            <a:r>
              <a:rPr lang="en-US" dirty="0"/>
              <a:t> de </a:t>
            </a:r>
            <a:r>
              <a:rPr lang="en-US" dirty="0" err="1"/>
              <a:t>construire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partenariat</a:t>
            </a:r>
            <a:r>
              <a:rPr lang="en-US" dirty="0"/>
              <a:t> avec Panasonic </a:t>
            </a:r>
            <a:r>
              <a:rPr lang="en-US" dirty="0" err="1"/>
              <a:t>d’immenses</a:t>
            </a:r>
            <a:r>
              <a:rPr lang="en-US" dirty="0"/>
              <a:t> </a:t>
            </a:r>
            <a:r>
              <a:rPr lang="en-US" dirty="0" err="1"/>
              <a:t>lotissements</a:t>
            </a:r>
            <a:r>
              <a:rPr lang="en-US" dirty="0"/>
              <a:t> </a:t>
            </a:r>
            <a:r>
              <a:rPr lang="en-US" dirty="0" err="1"/>
              <a:t>totalement</a:t>
            </a:r>
            <a:r>
              <a:rPr lang="en-US" dirty="0"/>
              <a:t> </a:t>
            </a:r>
            <a:r>
              <a:rPr lang="en-US" dirty="0" err="1"/>
              <a:t>autonomes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énergie</a:t>
            </a:r>
            <a:r>
              <a:rPr lang="en-US" dirty="0"/>
              <a:t>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Cependant</a:t>
            </a:r>
            <a:r>
              <a:rPr lang="en-US" dirty="0"/>
              <a:t>,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exemples</a:t>
            </a:r>
            <a:r>
              <a:rPr lang="en-US" dirty="0"/>
              <a:t> </a:t>
            </a:r>
            <a:r>
              <a:rPr lang="en-US" dirty="0" err="1"/>
              <a:t>fonctionnent</a:t>
            </a:r>
            <a:r>
              <a:rPr lang="en-US" dirty="0"/>
              <a:t> car il </a:t>
            </a:r>
            <a:r>
              <a:rPr lang="en-US" dirty="0" err="1"/>
              <a:t>s’agit</a:t>
            </a:r>
            <a:r>
              <a:rPr lang="en-US" dirty="0"/>
              <a:t> de petites </a:t>
            </a:r>
            <a:r>
              <a:rPr lang="en-US" dirty="0" err="1"/>
              <a:t>communautés</a:t>
            </a:r>
            <a:r>
              <a:rPr lang="en-US" dirty="0"/>
              <a:t>, sans </a:t>
            </a:r>
            <a:r>
              <a:rPr lang="en-US" dirty="0" err="1"/>
              <a:t>usine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entreprise</a:t>
            </a:r>
            <a:r>
              <a:rPr lang="en-US" dirty="0"/>
              <a:t>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pourquoi</a:t>
            </a:r>
            <a:r>
              <a:rPr lang="en-US" dirty="0"/>
              <a:t> le </a:t>
            </a:r>
            <a:r>
              <a:rPr lang="en-US" dirty="0" err="1"/>
              <a:t>solaire</a:t>
            </a:r>
            <a:r>
              <a:rPr lang="en-US" dirty="0"/>
              <a:t> </a:t>
            </a:r>
            <a:r>
              <a:rPr lang="en-US" dirty="0" err="1"/>
              <a:t>seul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pour le moment </a:t>
            </a:r>
            <a:r>
              <a:rPr lang="en-US" dirty="0" err="1"/>
              <a:t>difficilement</a:t>
            </a:r>
            <a:r>
              <a:rPr lang="en-US" dirty="0"/>
              <a:t> </a:t>
            </a:r>
            <a:r>
              <a:rPr lang="en-US" dirty="0" err="1"/>
              <a:t>envisageable</a:t>
            </a:r>
            <a:r>
              <a:rPr lang="en-US" dirty="0"/>
              <a:t>, et il </a:t>
            </a:r>
            <a:r>
              <a:rPr lang="en-US" dirty="0" err="1"/>
              <a:t>faudrait</a:t>
            </a:r>
            <a:r>
              <a:rPr lang="en-US" dirty="0"/>
              <a:t> le coupler à </a:t>
            </a:r>
            <a:r>
              <a:rPr lang="en-US" dirty="0" err="1"/>
              <a:t>d’autres</a:t>
            </a:r>
            <a:r>
              <a:rPr lang="en-US" dirty="0"/>
              <a:t> sources </a:t>
            </a:r>
            <a:r>
              <a:rPr lang="en-US" dirty="0" err="1"/>
              <a:t>d’energie</a:t>
            </a:r>
            <a:r>
              <a:rPr lang="en-US" dirty="0"/>
              <a:t>, </a:t>
            </a:r>
            <a:r>
              <a:rPr lang="en-US" dirty="0" err="1"/>
              <a:t>comme</a:t>
            </a:r>
            <a:r>
              <a:rPr lang="en-US" dirty="0"/>
              <a:t> par </a:t>
            </a:r>
            <a:r>
              <a:rPr lang="en-US" dirty="0" err="1"/>
              <a:t>exemple</a:t>
            </a:r>
            <a:r>
              <a:rPr lang="en-US" dirty="0"/>
              <a:t> à la fusion </a:t>
            </a:r>
            <a:r>
              <a:rPr lang="en-US" dirty="0" err="1"/>
              <a:t>nucléaire</a:t>
            </a:r>
            <a:r>
              <a:rPr lang="en-US" dirty="0"/>
              <a:t>, grâce </a:t>
            </a:r>
            <a:r>
              <a:rPr lang="en-US" dirty="0" err="1"/>
              <a:t>notamment</a:t>
            </a:r>
            <a:r>
              <a:rPr lang="en-US" dirty="0"/>
              <a:t> au </a:t>
            </a:r>
            <a:r>
              <a:rPr lang="en-US" dirty="0" err="1"/>
              <a:t>projet</a:t>
            </a:r>
            <a:r>
              <a:rPr lang="en-US" dirty="0"/>
              <a:t> de </a:t>
            </a:r>
            <a:r>
              <a:rPr lang="en-US" dirty="0" err="1"/>
              <a:t>réacteur</a:t>
            </a:r>
            <a:r>
              <a:rPr lang="en-US" dirty="0"/>
              <a:t> ITER.</a:t>
            </a:r>
          </a:p>
        </p:txBody>
      </p:sp>
      <p:pic>
        <p:nvPicPr>
          <p:cNvPr id="1026" name="Picture 2" descr="ville intelligente et durable de fujisawa">
            <a:extLst>
              <a:ext uri="{FF2B5EF4-FFF2-40B4-BE49-F238E27FC236}">
                <a16:creationId xmlns:a16="http://schemas.microsoft.com/office/drawing/2014/main" id="{AB438446-7E01-4B61-8865-37FF64FF8F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7" t="7023" r="35248" b="428"/>
          <a:stretch/>
        </p:blipFill>
        <p:spPr bwMode="auto">
          <a:xfrm>
            <a:off x="8109502" y="510966"/>
            <a:ext cx="4082498" cy="634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3C41EA5-44AD-4BAD-B261-431D612978C8}"/>
              </a:ext>
            </a:extLst>
          </p:cNvPr>
          <p:cNvSpPr txBox="1"/>
          <p:nvPr/>
        </p:nvSpPr>
        <p:spPr>
          <a:xfrm>
            <a:off x="8115299" y="141634"/>
            <a:ext cx="407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+mj-lt"/>
              </a:rPr>
              <a:t>Projet </a:t>
            </a:r>
            <a:r>
              <a:rPr lang="fr-FR" sz="1600" b="0" i="0" dirty="0">
                <a:effectLst/>
                <a:latin typeface="+mj-lt"/>
              </a:rPr>
              <a:t>Fujisawa </a:t>
            </a:r>
            <a:r>
              <a:rPr lang="fr-FR" sz="1600" b="0" i="0" dirty="0" err="1">
                <a:effectLst/>
                <a:latin typeface="+mj-lt"/>
              </a:rPr>
              <a:t>Sustainable</a:t>
            </a:r>
            <a:r>
              <a:rPr lang="fr-FR" sz="1600" b="0" i="0" dirty="0">
                <a:effectLst/>
                <a:latin typeface="+mj-lt"/>
              </a:rPr>
              <a:t> Smart Town</a:t>
            </a:r>
            <a:endParaRPr lang="fr-FR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6303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radientRiseVTI">
  <a:themeElements>
    <a:clrScheme name="AnalogousFromDarkSeedLeftStep">
      <a:dk1>
        <a:srgbClr val="000000"/>
      </a:dk1>
      <a:lt1>
        <a:srgbClr val="FFFFFF"/>
      </a:lt1>
      <a:dk2>
        <a:srgbClr val="1B1D2F"/>
      </a:dk2>
      <a:lt2>
        <a:srgbClr val="F0F3F1"/>
      </a:lt2>
      <a:accent1>
        <a:srgbClr val="E729B5"/>
      </a:accent1>
      <a:accent2>
        <a:srgbClr val="B717D5"/>
      </a:accent2>
      <a:accent3>
        <a:srgbClr val="7A29E7"/>
      </a:accent3>
      <a:accent4>
        <a:srgbClr val="3230D9"/>
      </a:accent4>
      <a:accent5>
        <a:srgbClr val="2976E7"/>
      </a:accent5>
      <a:accent6>
        <a:srgbClr val="17B3D5"/>
      </a:accent6>
      <a:hlink>
        <a:srgbClr val="3F5EBF"/>
      </a:hlink>
      <a:folHlink>
        <a:srgbClr val="7F7F7F"/>
      </a:folHlink>
    </a:clrScheme>
    <a:fontScheme name="Avenir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698</Words>
  <Application>Microsoft Office PowerPoint</Application>
  <PresentationFormat>Grand écran</PresentationFormat>
  <Paragraphs>46</Paragraphs>
  <Slides>8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GradientRiseVTI</vt:lpstr>
      <vt:lpstr>Panneaux  photovoltaïques</vt:lpstr>
      <vt:lpstr>Sommaire</vt:lpstr>
      <vt:lpstr>Fonctionnement</vt:lpstr>
      <vt:lpstr>rendement</vt:lpstr>
      <vt:lpstr>Impact ecologique</vt:lpstr>
      <vt:lpstr>Allemagne et solaire</vt:lpstr>
      <vt:lpstr>Amelioration future</vt:lpstr>
      <vt:lpstr>ouverture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Panneaux  photovolaïques</dc:title>
  <dc:creator>Pierre Patron</dc:creator>
  <cp:lastModifiedBy>Pierre Patron</cp:lastModifiedBy>
  <cp:revision>18</cp:revision>
  <dcterms:created xsi:type="dcterms:W3CDTF">2022-02-25T13:50:20Z</dcterms:created>
  <dcterms:modified xsi:type="dcterms:W3CDTF">2022-02-28T17:40:19Z</dcterms:modified>
</cp:coreProperties>
</file>